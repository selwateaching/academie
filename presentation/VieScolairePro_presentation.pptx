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Bienvenue. VieScolairePro est une application web de gestion de la vie scolaire : elle remplace les tableurs, les papiers et les messages dispersés par un seul outil dont les pages communiquent entre elles. La démonstration en ligne est disponible à l'adresse indiquée en dernière diapositive.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fort du produit : une action dans une page se répercute dans les autres. Une absence crée les cours à remplacer, propose des remplaçants libres, prévient les professeurs par message et alimente l'analyse des cours perturbés.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menu de gauche suit exactement ces six rubriques. Chaque rôle (direction, CPE, enseignant, infirmière…) ne voit que ce qui le concerne.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page d'accueil réunit les alertes (remplacements à pourvoir dans les 48 h, tâches en retard) et les accès directs par rubrique, avec des compteurs : absences du jour, remplacements à pourvoir, incidents ouverts, messages non lus.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Motifs d'absence proposés dans une liste avec saisie libre. Une indisponibilité (sortie scolaire, par exemple) n'entraîne pas de remplacement ; une absence crée un remplacement par cours concerné.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Pour chaque cours, les professeurs libres sont proposés (même matière d'abord, puis le moins sollicité). Un menu permet aussi de choisir un autre professeur avec sa disponibilité : libre, en cours, absent ou déjà en remplacement.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L'emploi du temps affiche l'état réel des cours de la semaine : les cours remplacés indiquent le remplaçant, les cours sans professeur disponible sont signalés.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moteur place les séances sans conflit (professeur, classe, salle), respecte les indisponibilités impératives, minimise les souhaits non respectés et explique les séances impossibles à placer. Les demi-journées sans cours, les horaires et le maximum d'heures par classe se règlent par établissement (exemple : mercredi après-midi).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assistant a des rôles (postes). Le moteur répartit les agents sur les besoins par plage horaire ; un clic sur une plage permet de la modifier, la supprimer ou la copier. Les besoins non couverts sont signalés.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Trois vues : professeurs, classes et personnel de vie scolaire. Le service dû de chaque professeur se saisit directement dans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trombinoscope est visible par les enseignants et la vie scolaire ; seule la vie scolaire ajoute les photos. Penser à l'autorisation de droit à l'image des familles.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chiffres comptent les élèves dont la date de naissance et le sexe sont renseignés ; un message indique combien ne sont pas comptés.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 un soin tombe pendant un cours, l'application l'indique et permet de prévenir le professeur par un message automatique qui ne contient aucune information médicale.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Depuis la page Incidents, le bouton Rédiger le document ouvre le formulaire pré-rempli : élève, classe, professeur principal, date, faits. Le texte du modèle se construit seul et reste modifiable.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L'en-tête et les signataires se règlent une seule fois dans Documents, En-tête et signataires, et s'appliquent à l'écran, à l'impression PDF et à l'export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convocations aux parents sont rédigées automatiquement avec le modèle et l'en-tête de l'établissement, et retrouvables dans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données sont séparées par établissement : un compte rattaché à un seul établissement ne peut ni lire ni modifier les données d'un autre. La suppression d'un établissement est protégée par confirmation du nom et du mot de passe.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L'interface s'adapte aux petits écrans avec un bouton Menu. Pour chaque client, un fichier de configuration règle le nom, la couleur, le logo, les modules actifs et les règles propres à l'établissement.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Transparence sur le périmètre : l'application est utilisable et démontrable aujourd'hui ; les évolutions de droite se planifient selon les demandes du client. Pour de vraies données, il faut un hébergement avec disque persistant et la démo désactivée.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comptes de démonstration sont partagés et les données fictives. Les données saisies sur la démo peuvent être réinitialisées.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4E5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023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3840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 txBox="1"/>
          <p:nvPr/>
        </p:nvSpPr>
        <p:spPr>
          <a:xfrm>
            <a:off x="457200" y="47548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VieScolairePro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N">
    <p:bg>
      <p:bgPr>
        <a:solidFill>
          <a:srgbClr val="4E5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822960"/>
            <a:ext cx="76809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344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2"/>
                </a:solidFill>
              </a:rPr>
              <a:t>VieScolairePro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 logiciel de vie scolaire qui relie absences, remplacements, emplois du temps, personnel et suivi des élèves.</a:t>
            </a:r>
            <a:endParaRPr lang="en-US" sz="1600" dirty="0"/>
          </a:p>
        </p:txBody>
      </p:sp>
      <p:sp>
        <p:nvSpPr>
          <p:cNvPr id="4" name="Surtitre"/>
          <p:cNvSpPr txBox="1"/>
          <p:nvPr/>
        </p:nvSpPr>
        <p:spPr>
          <a:xfrm>
            <a:off x="5486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Présentation du produit</a:t>
            </a:r>
            <a:endParaRPr lang="en-US" sz="1200" dirty="0"/>
          </a:p>
        </p:txBody>
      </p:sp>
      <p:sp>
        <p:nvSpPr>
          <p:cNvPr id="5" name="Cadre Page d'accueil de VieScolairePro"/>
          <p:cNvSpPr/>
          <p:nvPr/>
        </p:nvSpPr>
        <p:spPr>
          <a:xfrm>
            <a:off x="4672584" y="832104"/>
            <a:ext cx="4096512" cy="258775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6" name="Image 0" descr="Page d'accueil de VieScolaireP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868680"/>
            <a:ext cx="4023360" cy="2514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Un seul outil, des pages qui communiquent</a:t>
            </a:r>
            <a:endParaRPr lang="en-US" sz="2800" dirty="0"/>
          </a:p>
        </p:txBody>
      </p:sp>
      <p:sp>
        <p:nvSpPr>
          <p:cNvPr id="3" name="Carte 1"/>
          <p:cNvSpPr/>
          <p:nvPr/>
        </p:nvSpPr>
        <p:spPr>
          <a:xfrm>
            <a:off x="457200" y="1371600"/>
            <a:ext cx="1828800" cy="214884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4" name="Pastille 1"/>
          <p:cNvSpPr/>
          <p:nvPr/>
        </p:nvSpPr>
        <p:spPr>
          <a:xfrm>
            <a:off x="1097280" y="15544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Absence déclar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1673352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Absence déclarée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265176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Motif choisi dans une liste ou saisi librement</a:t>
            </a:r>
            <a:endParaRPr lang="en-US" sz="1300" dirty="0"/>
          </a:p>
        </p:txBody>
      </p:sp>
      <p:sp>
        <p:nvSpPr>
          <p:cNvPr id="8" name="Flèche 1"/>
          <p:cNvSpPr txBox="1"/>
          <p:nvPr/>
        </p:nvSpPr>
        <p:spPr>
          <a:xfrm>
            <a:off x="2286000" y="214884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9" name="Carte 2"/>
          <p:cNvSpPr/>
          <p:nvPr/>
        </p:nvSpPr>
        <p:spPr>
          <a:xfrm>
            <a:off x="2587752" y="1371600"/>
            <a:ext cx="1828800" cy="214884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10" name="Pastille 2"/>
          <p:cNvSpPr/>
          <p:nvPr/>
        </p:nvSpPr>
        <p:spPr>
          <a:xfrm>
            <a:off x="3227832" y="15544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1" name="Image 1" descr="Cours à rempla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167335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79192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Cours à remplacer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2697480" y="265176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Créés automatiquement pour chaque cours concerné</a:t>
            </a:r>
            <a:endParaRPr lang="en-US" sz="1300" dirty="0"/>
          </a:p>
        </p:txBody>
      </p:sp>
      <p:sp>
        <p:nvSpPr>
          <p:cNvPr id="14" name="Flèche 2"/>
          <p:cNvSpPr txBox="1"/>
          <p:nvPr/>
        </p:nvSpPr>
        <p:spPr>
          <a:xfrm>
            <a:off x="4416552" y="214884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15" name="Carte 3"/>
          <p:cNvSpPr/>
          <p:nvPr/>
        </p:nvSpPr>
        <p:spPr>
          <a:xfrm>
            <a:off x="4718304" y="1371600"/>
            <a:ext cx="1828800" cy="214884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16" name="Pastille 3"/>
          <p:cNvSpPr/>
          <p:nvPr/>
        </p:nvSpPr>
        <p:spPr>
          <a:xfrm>
            <a:off x="5358384" y="15544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Remplaçants proposé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7256" y="1673352"/>
            <a:ext cx="310896" cy="310896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09744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Remplaçants proposés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4828032" y="265176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Professeurs libres, même matière d'abord</a:t>
            </a:r>
            <a:endParaRPr lang="en-US" sz="1300" dirty="0"/>
          </a:p>
        </p:txBody>
      </p:sp>
      <p:sp>
        <p:nvSpPr>
          <p:cNvPr id="20" name="Flèche 3"/>
          <p:cNvSpPr txBox="1"/>
          <p:nvPr/>
        </p:nvSpPr>
        <p:spPr>
          <a:xfrm>
            <a:off x="6547104" y="214884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→</a:t>
            </a:r>
            <a:endParaRPr lang="en-US" sz="2400" dirty="0"/>
          </a:p>
        </p:txBody>
      </p:sp>
      <p:sp>
        <p:nvSpPr>
          <p:cNvPr id="21" name="Carte 4"/>
          <p:cNvSpPr/>
          <p:nvPr/>
        </p:nvSpPr>
        <p:spPr>
          <a:xfrm>
            <a:off x="6848856" y="1371600"/>
            <a:ext cx="1828800" cy="214884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22" name="Pastille 4"/>
          <p:cNvSpPr/>
          <p:nvPr/>
        </p:nvSpPr>
        <p:spPr>
          <a:xfrm>
            <a:off x="7488936" y="1554480"/>
            <a:ext cx="548640" cy="54864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3" name="Image 3" descr="Équipe prévenu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8" y="1673352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940296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Équipe prévenue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6958584" y="2651760"/>
            <a:ext cx="1609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Message automatique aux remplaçants</a:t>
            </a:r>
            <a:endParaRPr lang="en-US" sz="1300" dirty="0"/>
          </a:p>
        </p:txBody>
      </p:sp>
      <p:sp>
        <p:nvSpPr>
          <p:cNvPr id="26" name="Text 20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Le même enchaînement alimente « Cours perturbés », les rapports, le comptage des heures et l'historique.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Six rubriques, une logique</a:t>
            </a:r>
            <a:endParaRPr lang="en-US" sz="2800" dirty="0"/>
          </a:p>
        </p:txBody>
      </p:sp>
      <p:sp>
        <p:nvSpPr>
          <p:cNvPr id="3" name="Rubrique 1"/>
          <p:cNvSpPr/>
          <p:nvPr/>
        </p:nvSpPr>
        <p:spPr>
          <a:xfrm>
            <a:off x="45720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4" name="Pastille rubrique 1"/>
          <p:cNvSpPr/>
          <p:nvPr/>
        </p:nvSpPr>
        <p:spPr>
          <a:xfrm>
            <a:off x="621792" y="135331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5" name="Image 0" descr="1. Élèves et vie scol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453896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8872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1. Élèves et vie scolaire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1920240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Élèves, classes, trombinoscope, absences, remplacements, incidents, infirmerie, messagerie</a:t>
            </a:r>
            <a:endParaRPr lang="en-US" sz="1200" dirty="0"/>
          </a:p>
        </p:txBody>
      </p:sp>
      <p:sp>
        <p:nvSpPr>
          <p:cNvPr id="8" name="Rubrique 2"/>
          <p:cNvSpPr/>
          <p:nvPr/>
        </p:nvSpPr>
        <p:spPr>
          <a:xfrm>
            <a:off x="326898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9" name="Pastille rubrique 2"/>
          <p:cNvSpPr/>
          <p:nvPr/>
        </p:nvSpPr>
        <p:spPr>
          <a:xfrm>
            <a:off x="3433572" y="135331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0" name="Image 1" descr="2. Personn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4156" y="1453896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0050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2. Personnel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33572" y="1920240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Professeurs, assistants de vie scolaire, emplois du temps, planning, comptage des heures</a:t>
            </a:r>
            <a:endParaRPr lang="en-US" sz="1200" dirty="0"/>
          </a:p>
        </p:txBody>
      </p:sp>
      <p:sp>
        <p:nvSpPr>
          <p:cNvPr id="13" name="Rubrique 3"/>
          <p:cNvSpPr/>
          <p:nvPr/>
        </p:nvSpPr>
        <p:spPr>
          <a:xfrm>
            <a:off x="6080760" y="118872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14" name="Pastille rubrique 3"/>
          <p:cNvSpPr/>
          <p:nvPr/>
        </p:nvSpPr>
        <p:spPr>
          <a:xfrm>
            <a:off x="6245352" y="135331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5" name="Image 2" descr="3. Planification et suiv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936" y="1453896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12280" y="135331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3. Planification et suivi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45352" y="1920240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Génération des emplois du temps, tâches, rapports, assistant, import, historique</a:t>
            </a:r>
            <a:endParaRPr lang="en-US" sz="1200" dirty="0"/>
          </a:p>
        </p:txBody>
      </p:sp>
      <p:sp>
        <p:nvSpPr>
          <p:cNvPr id="18" name="Rubrique 4"/>
          <p:cNvSpPr/>
          <p:nvPr/>
        </p:nvSpPr>
        <p:spPr>
          <a:xfrm>
            <a:off x="457200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19" name="Pastille rubrique 4"/>
          <p:cNvSpPr/>
          <p:nvPr/>
        </p:nvSpPr>
        <p:spPr>
          <a:xfrm>
            <a:off x="621792" y="313639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0" name="Image 3" descr="4. Documents et réunio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36976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3136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4. Documents et réunions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21792" y="3703320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Réunions, rédaction assistée, modèles, en-tête et signataires</a:t>
            </a:r>
            <a:endParaRPr lang="en-US" sz="1200" dirty="0"/>
          </a:p>
        </p:txBody>
      </p:sp>
      <p:sp>
        <p:nvSpPr>
          <p:cNvPr id="23" name="Rubrique 5"/>
          <p:cNvSpPr/>
          <p:nvPr/>
        </p:nvSpPr>
        <p:spPr>
          <a:xfrm>
            <a:off x="3268980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24" name="Pastille rubrique 5"/>
          <p:cNvSpPr/>
          <p:nvPr/>
        </p:nvSpPr>
        <p:spPr>
          <a:xfrm>
            <a:off x="3433572" y="313639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5" name="Image 4" descr="5. Administra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4156" y="3236976"/>
            <a:ext cx="256032" cy="25603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00500" y="3136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5. Administration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33572" y="3703320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Utilisateurs, établissements, sauvegarde, sécurité, RGPD</a:t>
            </a:r>
            <a:endParaRPr lang="en-US" sz="1200" dirty="0"/>
          </a:p>
        </p:txBody>
      </p:sp>
      <p:sp>
        <p:nvSpPr>
          <p:cNvPr id="28" name="Rubrique 6"/>
          <p:cNvSpPr/>
          <p:nvPr/>
        </p:nvSpPr>
        <p:spPr>
          <a:xfrm>
            <a:off x="6080760" y="29718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29" name="Pastille rubrique 6"/>
          <p:cNvSpPr/>
          <p:nvPr/>
        </p:nvSpPr>
        <p:spPr>
          <a:xfrm>
            <a:off x="6245352" y="3136392"/>
            <a:ext cx="457200" cy="4572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Image 5" descr="6. Mon comp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3236976"/>
            <a:ext cx="256032" cy="25603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12280" y="3136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6. Mon compte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45352" y="3703320"/>
            <a:ext cx="22768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Mot de passe, double authentification, déconnexion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Un tableau de bord qui indique quoi faire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Alertes du jour : remplacements à pourvoir, tâches en retard, incidents en attente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Compteurs en direct sur chaque rubrique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Accès rapide à toutes les pages par rubrique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Menu latéral repliable, adapté au rôle</a:t>
            </a:r>
            <a:endParaRPr lang="en-US" sz="1400" dirty="0"/>
          </a:p>
        </p:txBody>
      </p:sp>
      <p:sp>
        <p:nvSpPr>
          <p:cNvPr id="4" name="Cadre Tableau de bord avec alertes et accès par rubrique"/>
          <p:cNvSpPr/>
          <p:nvPr/>
        </p:nvSpPr>
        <p:spPr>
          <a:xfrm>
            <a:off x="3803904" y="1060704"/>
            <a:ext cx="4919472" cy="310210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Tableau de bord avec alertes et accès par rubr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097280"/>
            <a:ext cx="4846320" cy="30289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Absences et indisponibilités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Déclaration en quelques clics : professeur, dates, motif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Motif choisi dans une liste, avec saisie libre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Les cours à remplacer sont créés automatiquement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Suivi : pourvus, à pourvoir, annulés</a:t>
            </a:r>
            <a:endParaRPr lang="en-US" sz="1400" dirty="0"/>
          </a:p>
        </p:txBody>
      </p:sp>
      <p:sp>
        <p:nvSpPr>
          <p:cNvPr id="4" name="Cadre Liste des absences et indisponibilités"/>
          <p:cNvSpPr/>
          <p:nvPr/>
        </p:nvSpPr>
        <p:spPr>
          <a:xfrm>
            <a:off x="3883318" y="1060704"/>
            <a:ext cx="4840058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Liste des absences et indisponibilité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19894" y="1097280"/>
            <a:ext cx="4766906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Remplacements : le bon professeur, au bon créneau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Professeurs libres proposés, même matière d'abord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Date, créneau et semaine affichés pour chaque cours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Conflit signalé et refusé, sauf décision explicite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Pourvoi automatique en un clic, remplaçants prévenus</a:t>
            </a:r>
            <a:endParaRPr lang="en-US" sz="1400" dirty="0"/>
          </a:p>
        </p:txBody>
      </p:sp>
      <p:sp>
        <p:nvSpPr>
          <p:cNvPr id="4" name="Cadre Organisation des remplacements"/>
          <p:cNvSpPr/>
          <p:nvPr/>
        </p:nvSpPr>
        <p:spPr>
          <a:xfrm>
            <a:off x="3978656" y="1060704"/>
            <a:ext cx="4744720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Organisation des remplacemen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5232" y="1097280"/>
            <a:ext cx="4671568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Emplois du temps lisibles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Vues jour, semaine et mois, par professeur ou par classe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Une couleur par matière, légende affichée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États visibles : remplacé, à pourvoir, annulé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Impression PDF en un clic</a:t>
            </a:r>
            <a:endParaRPr lang="en-US" sz="1400" dirty="0"/>
          </a:p>
        </p:txBody>
      </p:sp>
      <p:sp>
        <p:nvSpPr>
          <p:cNvPr id="4" name="Cadre Emploi du temps de la classe 3A en semaine"/>
          <p:cNvSpPr/>
          <p:nvPr/>
        </p:nvSpPr>
        <p:spPr>
          <a:xfrm>
            <a:off x="3803904" y="1060704"/>
            <a:ext cx="4919472" cy="2810054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Emploi du temps de la classe 3A en sema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097280"/>
            <a:ext cx="4846320" cy="27369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Génération automatique de l'emploi du temps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Saisie des besoins : classe, matière, professeur, heures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Vœux des professeurs : indisponibilités et souhaits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Règles propres à chaque établissement : rien n'est imposé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Proposition sans conflit, relue avant application</a:t>
            </a:r>
            <a:endParaRPr lang="en-US" sz="1400" dirty="0"/>
          </a:p>
        </p:txBody>
      </p:sp>
      <p:sp>
        <p:nvSpPr>
          <p:cNvPr id="4" name="Cadre Page de génération automatique de l'emploi du temps"/>
          <p:cNvSpPr/>
          <p:nvPr/>
        </p:nvSpPr>
        <p:spPr>
          <a:xfrm>
            <a:off x="3803904" y="1152144"/>
            <a:ext cx="4919472" cy="3085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Page de génération automatique de l'emploi du tem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188720"/>
            <a:ext cx="4846320" cy="30119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Planning intelligent du personnel de vie scolaire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Postes colorés : service, étude, foyer, cour, portail, self…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Génération automatique selon rôles, contrats et indisponibilités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Solde hebdomadaire de chaque agent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Modification, copie vers d'autres jours, annulation</a:t>
            </a:r>
            <a:endParaRPr lang="en-US" sz="1400" dirty="0"/>
          </a:p>
        </p:txBody>
      </p:sp>
      <p:sp>
        <p:nvSpPr>
          <p:cNvPr id="4" name="Cadre Planning du personnel en grille"/>
          <p:cNvSpPr/>
          <p:nvPr/>
        </p:nvSpPr>
        <p:spPr>
          <a:xfrm>
            <a:off x="3978656" y="1060704"/>
            <a:ext cx="4744720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Planning du personnel en gril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5232" y="1097280"/>
            <a:ext cx="4671568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Comptage des heures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Heures hebdomadaires de chaque professeur, avec service dû et écart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Heures remplacées et effectuées en remplacement sur la période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Heures par classe, détail par matière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Contrat, heures planifiées et solde de chaque agent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Export Excel et impression</a:t>
            </a:r>
            <a:endParaRPr lang="en-US" sz="1400" dirty="0"/>
          </a:p>
        </p:txBody>
      </p:sp>
      <p:sp>
        <p:nvSpPr>
          <p:cNvPr id="4" name="Cadre Comptage des heures des professeurs"/>
          <p:cNvSpPr/>
          <p:nvPr/>
        </p:nvSpPr>
        <p:spPr>
          <a:xfrm>
            <a:off x="3978656" y="1060704"/>
            <a:ext cx="4744720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Comptage des heures des professeu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5232" y="1097280"/>
            <a:ext cx="4671568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Trombinoscope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Élèves par classe avec le professeur principal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Professeurs et personnel de vie scolaire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Recherche instantanée et tri par nom ou prénom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Photos réduites automatiquement, initiales par défaut</a:t>
            </a:r>
            <a:endParaRPr lang="en-US" sz="1400" dirty="0"/>
          </a:p>
        </p:txBody>
      </p:sp>
      <p:sp>
        <p:nvSpPr>
          <p:cNvPr id="4" name="Cadre Trombinoscope d'une classe"/>
          <p:cNvSpPr/>
          <p:nvPr/>
        </p:nvSpPr>
        <p:spPr>
          <a:xfrm>
            <a:off x="3978656" y="1060704"/>
            <a:ext cx="4744720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Trombinoscope d'une clas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5232" y="1097280"/>
            <a:ext cx="4671568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Pyramide des âges, filles et garçons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Total des élèves, garçons, filles et pourcentages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Âge moyen et tranche d'âges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Filtre par niveau ou classe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Tableau des effectifs, export Excel, impression</a:t>
            </a:r>
            <a:endParaRPr lang="en-US" sz="1400" dirty="0"/>
          </a:p>
        </p:txBody>
      </p:sp>
      <p:sp>
        <p:nvSpPr>
          <p:cNvPr id="4" name="Cadre Pyramide des âges et des sexes"/>
          <p:cNvSpPr/>
          <p:nvPr/>
        </p:nvSpPr>
        <p:spPr>
          <a:xfrm>
            <a:off x="3978656" y="1060704"/>
            <a:ext cx="4744720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Pyramide des âges et des sex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5232" y="1097280"/>
            <a:ext cx="4671568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Infirmerie et santé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Planning des soins relié aux emplois du temps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Professeur prévenu par message, sans information médicale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Passages à l'infirmerie et fiches santé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Accès réservé aux personnes habilitées, consultations journalisées</a:t>
            </a:r>
            <a:endParaRPr lang="en-US" sz="1400" dirty="0"/>
          </a:p>
        </p:txBody>
      </p:sp>
      <p:sp>
        <p:nvSpPr>
          <p:cNvPr id="4" name="Cadre Planning des soins de l'infirmerie"/>
          <p:cNvSpPr/>
          <p:nvPr/>
        </p:nvSpPr>
        <p:spPr>
          <a:xfrm>
            <a:off x="3803904" y="1152144"/>
            <a:ext cx="4919472" cy="3229268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Planning des soins de l'infirmer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188720"/>
            <a:ext cx="4846320" cy="31561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Documents rédigés automatiquement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incident devient un rapport pré-rempli en un clic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Élève, classe, professeur principal, faits repris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Modèles modifiables, texte libre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Impression PDF et export Word</a:t>
            </a:r>
            <a:endParaRPr lang="en-US" sz="1400" dirty="0"/>
          </a:p>
        </p:txBody>
      </p:sp>
      <p:sp>
        <p:nvSpPr>
          <p:cNvPr id="4" name="Cadre Rédaction assistée d'un document à partir d'un incident"/>
          <p:cNvSpPr/>
          <p:nvPr/>
        </p:nvSpPr>
        <p:spPr>
          <a:xfrm>
            <a:off x="3978656" y="1060704"/>
            <a:ext cx="4744720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Rédaction assistée d'un document à partir d'un incid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5232" y="1097280"/>
            <a:ext cx="4671568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En-tête et signataires communs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Ligne officielle, nom, adresse, logo et pied de page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Signataires choisis document par document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« Fait à … le … » et cases de signature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Réglé une seule fois par établissement</a:t>
            </a:r>
            <a:endParaRPr lang="en-US" sz="1400" dirty="0"/>
          </a:p>
        </p:txBody>
      </p:sp>
      <p:sp>
        <p:nvSpPr>
          <p:cNvPr id="4" name="Cadre Document avec en-tête et signataires"/>
          <p:cNvSpPr/>
          <p:nvPr/>
        </p:nvSpPr>
        <p:spPr>
          <a:xfrm>
            <a:off x="5162635" y="1060704"/>
            <a:ext cx="3560741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Document avec en-tête et signatai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9211" y="1097280"/>
            <a:ext cx="3487589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Réunions et communication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Choisir une classe coche automatiquement ses professeurs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Élèves convoqués par classe, convocations aux parents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Messagerie par matière, par classe ou à tous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Messages automatiques liés aux remplacements et aux soins</a:t>
            </a:r>
            <a:endParaRPr lang="en-US" sz="1400" dirty="0"/>
          </a:p>
        </p:txBody>
      </p:sp>
      <p:sp>
        <p:nvSpPr>
          <p:cNvPr id="4" name="Cadre Organisation des réunions"/>
          <p:cNvSpPr/>
          <p:nvPr/>
        </p:nvSpPr>
        <p:spPr>
          <a:xfrm>
            <a:off x="3978656" y="1060704"/>
            <a:ext cx="4744720" cy="3547872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Organisation des réun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15232" y="1097280"/>
            <a:ext cx="4671568" cy="34747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Plusieurs établissements, des données cloisonnées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2004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Collège, lycée ou groupe scolaire dans une même application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Chaque établissement a ses propres données et réglages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L'administrateur ajoute, renomme ou supprime un établissement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Rôles : administrateur, direction, CPE, enseignant, infirmier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Double authentification, journal d'audit, RGPD, sauvegarde</a:t>
            </a:r>
            <a:endParaRPr lang="en-US" sz="1400" dirty="0"/>
          </a:p>
        </p:txBody>
      </p:sp>
      <p:sp>
        <p:nvSpPr>
          <p:cNvPr id="4" name="Cadre Gestion des établissements par l'administrateur"/>
          <p:cNvSpPr/>
          <p:nvPr/>
        </p:nvSpPr>
        <p:spPr>
          <a:xfrm>
            <a:off x="3803904" y="1197864"/>
            <a:ext cx="4919472" cy="3077069"/>
          </a:xfrm>
          <a:prstGeom prst="rect">
            <a:avLst/>
          </a:prstGeom>
          <a:solidFill>
            <a:srgbClr val="FFFFFF"/>
          </a:solidFill>
          <a:ln w="9525">
            <a:solidFill>
              <a:srgbClr val="D8D2C4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Image 0" descr="Gestion des établissements par l'administra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1234440"/>
            <a:ext cx="4846320" cy="30039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Sur téléphone et adaptable à chaque client</a:t>
            </a:r>
            <a:endParaRPr lang="en-US" sz="2800" dirty="0"/>
          </a:p>
        </p:txBody>
      </p:sp>
      <p:sp>
        <p:nvSpPr>
          <p:cNvPr id="3" name="Texte"/>
          <p:cNvSpPr txBox="1"/>
          <p:nvPr/>
        </p:nvSpPr>
        <p:spPr>
          <a:xfrm>
            <a:off x="457200" y="1188720"/>
            <a:ext cx="3931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Affichage adapté au téléphone, installable sur l'écran d'accueil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Modules activables ou désactivables par client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Configuration par client : nom, couleur, logo, règles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Extensions pour des besoins spécifiques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Évolutions de base de données versionnées</a:t>
            </a:r>
            <a:endParaRPr lang="en-US" sz="1400" dirty="0"/>
          </a:p>
        </p:txBody>
      </p:sp>
      <p:sp>
        <p:nvSpPr>
          <p:cNvPr id="4" name="Téléphone mobile_accueil"/>
          <p:cNvSpPr/>
          <p:nvPr/>
        </p:nvSpPr>
        <p:spPr>
          <a:xfrm>
            <a:off x="4846320" y="1097280"/>
            <a:ext cx="1508760" cy="2504518"/>
          </a:xfrm>
          <a:prstGeom prst="roundRect">
            <a:avLst>
              <a:gd name="adj" fmla="val 6061"/>
            </a:avLst>
          </a:prstGeom>
          <a:solidFill>
            <a:srgbClr val="26211E"/>
          </a:solidFill>
          <a:ln/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sp>
      <p:pic>
        <p:nvPicPr>
          <p:cNvPr id="5" name="Image 0" descr="Capture sur télé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143000"/>
            <a:ext cx="1417320" cy="2413078"/>
          </a:xfrm>
          <a:prstGeom prst="rect">
            <a:avLst/>
          </a:prstGeom>
        </p:spPr>
      </p:pic>
      <p:sp>
        <p:nvSpPr>
          <p:cNvPr id="6" name="Téléphone mobile_menu"/>
          <p:cNvSpPr/>
          <p:nvPr/>
        </p:nvSpPr>
        <p:spPr>
          <a:xfrm>
            <a:off x="6629400" y="1097280"/>
            <a:ext cx="1508760" cy="2504518"/>
          </a:xfrm>
          <a:prstGeom prst="roundRect">
            <a:avLst>
              <a:gd name="adj" fmla="val 6061"/>
            </a:avLst>
          </a:prstGeom>
          <a:solidFill>
            <a:srgbClr val="26211E"/>
          </a:solidFill>
          <a:ln/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</p:sp>
      <p:pic>
        <p:nvPicPr>
          <p:cNvPr id="7" name="Image 1" descr="Capture sur télé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143000"/>
            <a:ext cx="1417320" cy="241307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Aujourd'hui et prochaines évolutions</a:t>
            </a:r>
            <a:endParaRPr lang="en-US" sz="2800" dirty="0"/>
          </a:p>
        </p:txBody>
      </p:sp>
      <p:sp>
        <p:nvSpPr>
          <p:cNvPr id="3" name="Carte disponible"/>
          <p:cNvSpPr/>
          <p:nvPr/>
        </p:nvSpPr>
        <p:spPr>
          <a:xfrm>
            <a:off x="45720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9525">
            <a:solidFill>
              <a:srgbClr val="E6DCC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Disponible dans la démonstration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Absences, remplacements, cours perturbés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Emplois du temps et génération automatique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Personnel de vie scolaire et comptage des heures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Élèves, trombinoscope, infirmerie, documents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Établissements, rôles, sécurité, sauvegarde</a:t>
            </a:r>
            <a:endParaRPr lang="en-US" sz="1400" dirty="0"/>
          </a:p>
        </p:txBody>
      </p:sp>
      <p:sp>
        <p:nvSpPr>
          <p:cNvPr id="6" name="Carte à venir"/>
          <p:cNvSpPr/>
          <p:nvPr/>
        </p:nvSpPr>
        <p:spPr>
          <a:xfrm>
            <a:off x="4663440" y="1143000"/>
            <a:ext cx="402336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À définir selon vos demandes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6576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Envoi d'e-mails (aujourd'hui : messages internes)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Semaines A/B et samedi dans les emplois du temps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API pour des intégrations tierces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Exports Excel et PDF générés côté serveur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Hébergement avec stockage durable pour la production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82296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2"/>
                </a:solidFill>
              </a:rPr>
              <a:t>Essayez la démonstration</a:t>
            </a:r>
            <a:endParaRPr lang="en-US" sz="3800" dirty="0"/>
          </a:p>
        </p:txBody>
      </p:sp>
      <p:sp>
        <p:nvSpPr>
          <p:cNvPr id="3" name="Adresse de la démo"/>
          <p:cNvSpPr txBox="1"/>
          <p:nvPr/>
        </p:nvSpPr>
        <p:spPr>
          <a:xfrm>
            <a:off x="731520" y="19202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viescolaire-pro.onrender.com</a:t>
            </a:r>
            <a:endParaRPr lang="en-US" sz="2800" dirty="0"/>
          </a:p>
        </p:txBody>
      </p:sp>
      <p:sp>
        <p:nvSpPr>
          <p:cNvPr id="4" name="Comptes de démonstration"/>
          <p:cNvSpPr txBox="1"/>
          <p:nvPr/>
        </p:nvSpPr>
        <p:spPr>
          <a:xfrm>
            <a:off x="731520" y="2743200"/>
            <a:ext cx="7680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CPE : cpe@demo.fr — direction : direction@demo.fr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Administrateur (établissements) : admin@demo.fr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Enseignant : prof1@demo.fr — infirmière : infirmerie@demo.fr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2"/>
                </a:solidFill>
              </a:rPr>
              <a:t>Mot de passe de démonstration : demo1234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eScolairePro">
  <a:themeElements>
    <a:clrScheme name="VieScolairePro">
      <a:dk1>
        <a:srgbClr val="26211E"/>
      </a:dk1>
      <a:lt1>
        <a:srgbClr val="FFFFFF"/>
      </a:lt1>
      <a:dk2>
        <a:srgbClr val="4E5443"/>
      </a:dk2>
      <a:lt2>
        <a:srgbClr val="F4EBD7"/>
      </a:lt2>
      <a:accent1>
        <a:srgbClr val="D3803C"/>
      </a:accent1>
      <a:accent2>
        <a:srgbClr val="777F67"/>
      </a:accent2>
      <a:accent3>
        <a:srgbClr val="B0B18C"/>
      </a:accent3>
      <a:accent4>
        <a:srgbClr val="EDC59D"/>
      </a:accent4>
      <a:accent5>
        <a:srgbClr val="A8432A"/>
      </a:accent5>
      <a:accent6>
        <a:srgbClr val="5B7A9A"/>
      </a:accent6>
      <a:hlink>
        <a:srgbClr val="D3803C"/>
      </a:hlink>
      <a:folHlink>
        <a:srgbClr val="777F67"/>
      </a:folHlink>
    </a:clrScheme>
    <a:fontScheme name="VieScolairePr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VieScolairePro — présentation du produit</dc:title>
  <dc:subject>PptxGenJS Presentation</dc:subject>
  <dc:creator>VieScolairePro</dc:creator>
  <cp:lastModifiedBy>VieScolairePro</cp:lastModifiedBy>
  <cp:revision>1</cp:revision>
  <dcterms:created xsi:type="dcterms:W3CDTF">2026-10-27T15:15:39Z</dcterms:created>
  <dcterms:modified xsi:type="dcterms:W3CDTF">2026-10-27T15:15:39Z</dcterms:modified>
</cp:coreProperties>
</file>