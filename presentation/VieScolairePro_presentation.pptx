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Bienvenue. VieScolairePro est une application web de gestion de la vie scolaire : elle remplace les tableurs, les papiers et les messages dispersés par un seul outil dont les pages communiquent entre elles. La démonstration en ligne est indiquée en dernière diapositive.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point fort du produit : une action dans une page se répercute dans les autres. Une absence crée les cours à remplacer, propose des remplaçants libres, prévient les professeurs par message et alimente l'analyse des cours perturbés.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menu de gauche suit exactement ces six rubriques, avec une icône cohérente et des compteurs. Chaque rôle (direction, CPE, enseignant, infirmière…) ne voit que ce qui le concerne.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tableau de bord réunit les chiffres du jour dans huit tuiles cliquables, six graphiques qui s'animent au survol, les alertes (remplacements dans les 48 h, tâches en retard) et les accès par rubrique.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liste des élèves se filtre et s'exporte par niveau, classe, groupe ou régime. Les colonnes exportées se choisissent. L'import CSV peut mettre à jour des fiches existantes.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saisie rapide permet de compléter une classe entière dans un tableau ressemblant à un tableur, au lieu d'ouvrir chaque fiche.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niveau a sa couleur ; chaque groupe reçoit automatiquement une couleur différente, modifiable. Les couleurs aident à repérer d'un coup d'œil.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Motifs d'absence proposés dans une liste avec saisie libre. Une indisponibilité (sortie scolaire, par exemple) n'entraîne pas de remplacement ; une absence crée un remplacement par cours concerné.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chaque cours, les professeurs libres sont proposés (même matière d'abord, puis le moins sollicité). Un menu permet aussi de choisir un autre professeur avec sa disponibilité.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L'appel peut être fait par les enseignants ou par la vie scolaire. Les absences et retards alimentent la fiche de l'élève, les états et le tableau de bord.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états se choisissent par jour, semaine ou mois, pour les élèves comme pour les professeurs, avec impression et export Excel.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parent convoqué : le CPE a tout sous la main, il peut imprimer le relevé de notes ou le bulletin. Un relevé à mi-parcours est aussi possible, sans attendre la fin du trimestre.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L'emploi du temps affiche l'état réel des cours de la semaine : les cours remplacés indiquent le remplaçant, les cours sans professeur disponible sont signalés.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page remplace la saisie classe par classe : les heures de chaque matière par niveau suffisent. Les professeurs sont répartis selon leur matière, leur service dû et leurs vœux.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moteur place les séances sans conflit, respecte les indisponibilités, minimise les souhaits non respectés et les trous. Les trous sont affichés dans la grille et listés par professeur et par classe.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assistant a des rôles (postes). Le moteur répartit les agents sur les besoins par plage horaire ; un clic sur une plage permet de la modifier, la supprimer ou la copier.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vues : professeurs, classes et personnel de vie scolaire. Le service dû de chaque professeur se saisit directement dans le tableau.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trombinoscope est visible par les enseignants et la vie scolaire ; seule la vie scolaire ajoute les photos. Penser à l'autorisation de droit à l'image des familles.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chiffres comptent les élèves dont la date de naissance et le sexe sont renseignés ; un message indique combien ne sont pas comptés.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Quand un soin tombe pendant un cours, l'application l'indique et permet de prévenir le professeur par un message automatique qui ne contient aucune information médicale.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Depuis la page Incidents, le bouton Rédiger le document ouvre le formulaire pré-rempli. Le texte du modèle se construit seul et reste modifiable.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L'en-tête et les signataires se règlent une seule fois et s'appliquent à l'écran, à l'impression PDF et à l'export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Tout document rédigé est archivé. On le retrouve par date, niveau, classe, élève ou type, et dans la fiche de l'élève concerné.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seule création de réunion. Selon le besoin : convocation seule, convocation avec enregistrement et compte rendu IA, ou compte rendu seul pour une réunion déjà tenue.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chef d'établissement prépare la réunion, obtient le consentement, lance l'enregistrement puis laisse faire. Après la réunion, la transcription est corrigée, un compte rendu structuré est proposé, relu et validé. L'IA ne remplace pas le responsable.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logiciel fournit le texte à lire aux participants. Chaque participant doit être coché et le responsable atteste l'information. Sans cela, l'enregistrement ne démarre pas, y compris côté serveur.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L'audio est envoyé par morceaux pendant la réunion. Si la page se ferme ou si la connexion saute, ce qui a été reçu est conservé et l'on reprend dans une nouvelle partie.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titre et l'ordre du jour servent de référence. L'IA ne signale que ce qui est clairement hors sujet ; le responsable vérifie avant de supprimer. Les phrases parasites inventées sur les silences sont supprimées automatiquement.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compte rendu est rédigé en langage administratif à partir de la transcription. Il ne contient que ce qui a été dit ; l'IA écrit « Non précisé » quand un responsable ou une échéance n'est pas mentionné. Il est relu, corrigé et validé par le responsable avant impression ou partage.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module respecte le RGPD : information et consentement, accès limité, durée de conservation configurable, suppression possible, journalisation. Les services de transcription et de rédaction sont des services externes : leur utilisation est facultative et exige une clé ; sans clé, rien n'est envoyé.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données sont séparées par établissement : un compte rattaché à un seul établissement ne peut ni lire ni modifier les données d'un autre. La suppression d'un établissement est protégée par confirmation du nom et du mot de passe.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Après comparaison de plusieurs palettes, la palette Sapin et ambre a été retenue pour son sérieux et sa lisibilité. Elle est contrôlée avec un outil d'accessibilité automatique et se décline par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L'interface s'adapte aux petits écrans avec un bouton Menu. Pour chaque client, un fichier de configuration règle le nom, la couleur, le logo, les modules actifs et les règles propres à l'établissement.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Transparence sur le périmètre. Pour de vraies données : hébergement avec disque persistant, démonstration désactivée, clés des services d'IA à configurer pour les réunions intelligentes, sauvegarde régulière.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comptes de démonstration sont partagés et les données fictives. Les données saisies sur la démo sont réinitialisées à chaque mise à jour du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RE">
    <p:bg>
      <p:bgPr>
        <a:solidFill>
          <a:srgbClr val="335248"/>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4023360" cy="1188720"/>
          </a:xfrm>
          <a:prstGeom prst="rect">
            <a:avLst/>
          </a:prstGeom>
          <a:noFill/>
          <a:ln/>
        </p:spPr>
        <p:txBody>
          <a:bodyPr wrap="square" rtlCol="0"/>
          <a:lstStyle>
            <a:lvl1pPr algn="l" indent="0" marL="0">
              <a:buNone/>
              <a:defRPr lang="en-US" sz="3800" b="1" dirty="0">
                <a:solidFill>
                  <a:schemeClr val="bg2"/>
                </a:solidFill>
              </a:defRPr>
            </a:lvl1pPr>
          </a:lstStyle>
          <a:p>
            <a:pPr algn="l" indent="0" marL="0">
              <a:buNone/>
            </a:pPr>
            <a:endParaRPr lang="en-US" sz="3800" dirty="0"/>
          </a:p>
        </p:txBody>
      </p:sp>
      <p:sp>
        <p:nvSpPr>
          <p:cNvPr id="3" name="Text 0"/>
          <p:cNvSpPr/>
          <p:nvPr>
            <p:ph idx="101" type="body" hasCustomPrompt="1"/>
          </p:nvPr>
        </p:nvSpPr>
        <p:spPr>
          <a:xfrm>
            <a:off x="548640" y="2560320"/>
            <a:ext cx="3840480" cy="1463040"/>
          </a:xfrm>
          <a:prstGeom prst="rect">
            <a:avLst/>
          </a:prstGeom>
          <a:noFill/>
          <a:ln/>
        </p:spPr>
        <p:txBody>
          <a:bodyPr wrap="square" rtlCol="0"/>
          <a:lstStyle>
            <a:lvl1pPr algn="l" indent="0" marL="0">
              <a:buNone/>
              <a:defRPr lang="en-US" sz="1600" dirty="0">
                <a:solidFill>
                  <a:schemeClr val="bg2"/>
                </a:solidFill>
              </a:defRPr>
            </a:lvl1pPr>
          </a:lstStyle>
          <a:p>
            <a:pPr algn="l"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3" name="Text 0"/>
          <p:cNvSpPr txBox="1"/>
          <p:nvPr/>
        </p:nvSpPr>
        <p:spPr>
          <a:xfrm>
            <a:off x="457200" y="4754880"/>
            <a:ext cx="2743200" cy="228600"/>
          </a:xfrm>
          <a:prstGeom prst="rect">
            <a:avLst/>
          </a:prstGeom>
          <a:noFill/>
          <a:ln/>
        </p:spPr>
        <p:txBody>
          <a:bodyPr wrap="square" lIns="0" tIns="0" rIns="0" bIns="0" rtlCol="0" anchor="ctr"/>
          <a:lstStyle/>
          <a:p>
            <a:pPr indent="0" marL="0">
              <a:buNone/>
            </a:pPr>
            <a:r>
              <a:rPr lang="en-US" sz="1000" dirty="0">
                <a:solidFill>
                  <a:schemeClr val="accent2"/>
                </a:solidFill>
              </a:rPr>
              <a:t>VieScolairePro</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FIN">
    <p:bg>
      <p:bgPr>
        <a:solidFill>
          <a:srgbClr val="335248"/>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822960"/>
            <a:ext cx="7680960" cy="914400"/>
          </a:xfrm>
          <a:prstGeom prst="rect">
            <a:avLst/>
          </a:prstGeom>
          <a:noFill/>
          <a:ln/>
        </p:spPr>
        <p:txBody>
          <a:bodyPr wrap="square" rtlCol="0"/>
          <a:lstStyle>
            <a:lvl1pPr algn="l" indent="0" marL="0">
              <a:buNone/>
              <a:defRPr lang="en-US" sz="3800" b="1" dirty="0">
                <a:solidFill>
                  <a:schemeClr val="bg2"/>
                </a:solidFill>
              </a:defRPr>
            </a:lvl1pPr>
          </a:lstStyle>
          <a:p>
            <a:pPr algn="l" indent="0" marL="0">
              <a:buNone/>
            </a:pPr>
            <a:endParaRPr lang="en-US" sz="3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3.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3.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slideLayout" Target="../slideLayouts/slideLayout3.xml"/><Relationship Id="rId8"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3.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4023360" cy="1188720"/>
          </a:xfrm>
          <a:prstGeom prst="rect">
            <a:avLst/>
          </a:prstGeom>
          <a:noFill/>
          <a:ln/>
        </p:spPr>
        <p:txBody>
          <a:bodyPr wrap="square" lIns="0" tIns="0" rIns="0" bIns="0" rtlCol="0" anchor="t"/>
          <a:lstStyle/>
          <a:p>
            <a:pPr algn="l" indent="0" marL="0">
              <a:buNone/>
            </a:pPr>
            <a:r>
              <a:rPr lang="en-US" sz="3800" b="1" dirty="0">
                <a:solidFill>
                  <a:schemeClr val="bg2"/>
                </a:solidFill>
              </a:rPr>
              <a:t>VieScolairePro</a:t>
            </a:r>
            <a:endParaRPr lang="en-US" sz="3800" dirty="0"/>
          </a:p>
        </p:txBody>
      </p:sp>
      <p:sp>
        <p:nvSpPr>
          <p:cNvPr id="3" name="Text 0"/>
          <p:cNvSpPr/>
          <p:nvPr>
            <p:ph idx="101" type="body" hasCustomPrompt="1"/>
          </p:nvPr>
        </p:nvSpPr>
        <p:spPr>
          <a:xfrm>
            <a:off x="548640" y="2560320"/>
            <a:ext cx="3840480" cy="1463040"/>
          </a:xfrm>
          <a:prstGeom prst="rect">
            <a:avLst/>
          </a:prstGeom>
          <a:noFill/>
          <a:ln/>
        </p:spPr>
        <p:txBody>
          <a:bodyPr wrap="square" lIns="0" tIns="0" rIns="0" bIns="0" rtlCol="0" anchor="t"/>
          <a:lstStyle/>
          <a:p>
            <a:pPr algn="l" indent="0" marL="0">
              <a:buNone/>
            </a:pPr>
            <a:r>
              <a:rPr lang="en-US" sz="1600" dirty="0">
                <a:solidFill>
                  <a:schemeClr val="bg2"/>
                </a:solidFill>
              </a:rPr>
              <a:t>Le logiciel de vie scolaire qui relie absences, remplacements, emplois du temps, notes, réunions et suivi des élèves.</a:t>
            </a:r>
            <a:endParaRPr lang="en-US" sz="1600" dirty="0"/>
          </a:p>
        </p:txBody>
      </p:sp>
      <p:sp>
        <p:nvSpPr>
          <p:cNvPr id="4" name="Surtitre"/>
          <p:cNvSpPr txBox="1"/>
          <p:nvPr/>
        </p:nvSpPr>
        <p:spPr>
          <a:xfrm>
            <a:off x="548640" y="548640"/>
            <a:ext cx="3657600" cy="274320"/>
          </a:xfrm>
          <a:prstGeom prst="rect">
            <a:avLst/>
          </a:prstGeom>
          <a:noFill/>
          <a:ln/>
        </p:spPr>
        <p:txBody>
          <a:bodyPr wrap="square" lIns="0" tIns="0" rIns="0" bIns="0" rtlCol="0" anchor="ctr"/>
          <a:lstStyle/>
          <a:p>
            <a:pPr indent="0" marL="0">
              <a:buNone/>
            </a:pPr>
            <a:r>
              <a:rPr lang="en-US" sz="1200" dirty="0">
                <a:solidFill>
                  <a:schemeClr val="accent4"/>
                </a:solidFill>
              </a:rPr>
              <a:t>Présentation du produit</a:t>
            </a:r>
            <a:endParaRPr lang="en-US" sz="1200" dirty="0"/>
          </a:p>
        </p:txBody>
      </p:sp>
      <p:sp>
        <p:nvSpPr>
          <p:cNvPr id="5" name="Cadre Tableau de bord de VieScolairePro"/>
          <p:cNvSpPr/>
          <p:nvPr/>
        </p:nvSpPr>
        <p:spPr>
          <a:xfrm>
            <a:off x="4745736" y="466344"/>
            <a:ext cx="4023360" cy="4187952"/>
          </a:xfrm>
          <a:prstGeom prst="rect">
            <a:avLst/>
          </a:prstGeom>
          <a:solidFill>
            <a:srgbClr val="FFFFFF"/>
          </a:solidFill>
          <a:ln w="9525">
            <a:solidFill>
              <a:srgbClr val="C9D3CD"/>
            </a:solidFill>
            <a:prstDash val="solid"/>
          </a:ln>
          <a:effectLst>
            <a:outerShdw sx="100000" sy="100000" kx="0" ky="0" algn="bl" rotWithShape="0" blurRad="101600" dist="25400" dir="5400000">
              <a:srgbClr val="000000">
                <a:alpha val="18000"/>
              </a:srgbClr>
            </a:outerShdw>
          </a:effectLst>
        </p:spPr>
      </p:sp>
      <p:pic>
        <p:nvPicPr>
          <p:cNvPr id="6" name="Image 0" descr="Tableau de bord de VieScolairePro">    </p:cNvPr>
          <p:cNvPicPr>
            <a:picLocks noChangeAspect="1"/>
          </p:cNvPicPr>
          <p:nvPr/>
        </p:nvPicPr>
        <p:blipFill>
          <a:blip r:embed="rId1"/>
          <a:stretch>
            <a:fillRect/>
          </a:stretch>
        </p:blipFill>
        <p:spPr>
          <a:xfrm>
            <a:off x="4782312" y="502920"/>
            <a:ext cx="3950208" cy="41148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Un seul outil, des pages qui communiquent</a:t>
            </a:r>
            <a:endParaRPr lang="en-US" sz="2800" dirty="0"/>
          </a:p>
        </p:txBody>
      </p:sp>
      <p:sp>
        <p:nvSpPr>
          <p:cNvPr id="3" name="Carte 1"/>
          <p:cNvSpPr/>
          <p:nvPr/>
        </p:nvSpPr>
        <p:spPr>
          <a:xfrm>
            <a:off x="457200" y="1371600"/>
            <a:ext cx="1828800" cy="2148840"/>
          </a:xfrm>
          <a:prstGeom prst="roundRect">
            <a:avLst>
              <a:gd name="adj" fmla="val 4000"/>
            </a:avLst>
          </a:prstGeom>
          <a:solidFill>
            <a:schemeClr val="bg2"/>
          </a:solidFill>
          <a:ln w="9525">
            <a:solidFill>
              <a:srgbClr val="DDE5E0"/>
            </a:solidFill>
            <a:prstDash val="solid"/>
          </a:ln>
        </p:spPr>
      </p:sp>
      <p:sp>
        <p:nvSpPr>
          <p:cNvPr id="4" name="Pastille Absence déclarée"/>
          <p:cNvSpPr/>
          <p:nvPr/>
        </p:nvSpPr>
        <p:spPr>
          <a:xfrm>
            <a:off x="1097280" y="1554480"/>
            <a:ext cx="548640" cy="548640"/>
          </a:xfrm>
          <a:prstGeom prst="ellipse">
            <a:avLst/>
          </a:prstGeom>
          <a:solidFill>
            <a:schemeClr val="tx2"/>
          </a:solidFill>
          <a:ln/>
        </p:spPr>
      </p:sp>
      <p:pic>
        <p:nvPicPr>
          <p:cNvPr id="5" name="Image 0" descr="Absence déclarée">    </p:cNvPr>
          <p:cNvPicPr>
            <a:picLocks noChangeAspect="1"/>
          </p:cNvPicPr>
          <p:nvPr/>
        </p:nvPicPr>
        <p:blipFill>
          <a:blip r:embed="rId1"/>
          <a:stretch>
            <a:fillRect/>
          </a:stretch>
        </p:blipFill>
        <p:spPr>
          <a:xfrm>
            <a:off x="1216152" y="1673352"/>
            <a:ext cx="310896" cy="310896"/>
          </a:xfrm>
          <a:prstGeom prst="rect">
            <a:avLst/>
          </a:prstGeom>
        </p:spPr>
      </p:pic>
      <p:sp>
        <p:nvSpPr>
          <p:cNvPr id="6" name="Text 3"/>
          <p:cNvSpPr txBox="1"/>
          <p:nvPr/>
        </p:nvSpPr>
        <p:spPr>
          <a:xfrm>
            <a:off x="548640" y="2240280"/>
            <a:ext cx="1645920" cy="365760"/>
          </a:xfrm>
          <a:prstGeom prst="rect">
            <a:avLst/>
          </a:prstGeom>
          <a:noFill/>
          <a:ln/>
        </p:spPr>
        <p:txBody>
          <a:bodyPr wrap="square" lIns="0" tIns="0" rIns="0" bIns="0" rtlCol="0" anchor="ctr"/>
          <a:lstStyle/>
          <a:p>
            <a:pPr algn="ctr" indent="0" marL="0">
              <a:buNone/>
            </a:pPr>
            <a:r>
              <a:rPr lang="en-US" sz="1600" b="1" dirty="0">
                <a:solidFill>
                  <a:schemeClr val="tx1"/>
                </a:solidFill>
              </a:rPr>
              <a:t>Absence déclarée</a:t>
            </a:r>
            <a:endParaRPr lang="en-US" sz="1600" dirty="0"/>
          </a:p>
        </p:txBody>
      </p:sp>
      <p:sp>
        <p:nvSpPr>
          <p:cNvPr id="7" name="Text 4"/>
          <p:cNvSpPr txBox="1"/>
          <p:nvPr/>
        </p:nvSpPr>
        <p:spPr>
          <a:xfrm>
            <a:off x="566928" y="2651760"/>
            <a:ext cx="1609344" cy="777240"/>
          </a:xfrm>
          <a:prstGeom prst="rect">
            <a:avLst/>
          </a:prstGeom>
          <a:noFill/>
          <a:ln/>
        </p:spPr>
        <p:txBody>
          <a:bodyPr wrap="square" lIns="0" tIns="0" rIns="0" bIns="0" rtlCol="0" anchor="t"/>
          <a:lstStyle/>
          <a:p>
            <a:pPr algn="ctr" indent="0" marL="0">
              <a:buNone/>
            </a:pPr>
            <a:r>
              <a:rPr lang="en-US" sz="1300" dirty="0">
                <a:solidFill>
                  <a:schemeClr val="tx2"/>
                </a:solidFill>
              </a:rPr>
              <a:t>Motif choisi dans une liste ou saisi librement</a:t>
            </a:r>
            <a:endParaRPr lang="en-US" sz="1300" dirty="0"/>
          </a:p>
        </p:txBody>
      </p:sp>
      <p:sp>
        <p:nvSpPr>
          <p:cNvPr id="8" name="Flèche 1"/>
          <p:cNvSpPr txBox="1"/>
          <p:nvPr/>
        </p:nvSpPr>
        <p:spPr>
          <a:xfrm>
            <a:off x="2286000" y="2148840"/>
            <a:ext cx="301752" cy="457200"/>
          </a:xfrm>
          <a:prstGeom prst="rect">
            <a:avLst/>
          </a:prstGeom>
          <a:noFill/>
          <a:ln/>
        </p:spPr>
        <p:txBody>
          <a:bodyPr wrap="square" lIns="0" tIns="0" rIns="0" bIns="0" rtlCol="0" anchor="ctr"/>
          <a:lstStyle/>
          <a:p>
            <a:pPr algn="ctr" indent="0" marL="0">
              <a:buNone/>
            </a:pPr>
            <a:r>
              <a:rPr lang="en-US" sz="2400" b="1" dirty="0">
                <a:solidFill>
                  <a:schemeClr val="accent1"/>
                </a:solidFill>
              </a:rPr>
              <a:t>→</a:t>
            </a:r>
            <a:endParaRPr lang="en-US" sz="2400" dirty="0"/>
          </a:p>
        </p:txBody>
      </p:sp>
      <p:sp>
        <p:nvSpPr>
          <p:cNvPr id="9" name="Carte 2"/>
          <p:cNvSpPr/>
          <p:nvPr/>
        </p:nvSpPr>
        <p:spPr>
          <a:xfrm>
            <a:off x="2587752" y="1371600"/>
            <a:ext cx="1828800" cy="2148840"/>
          </a:xfrm>
          <a:prstGeom prst="roundRect">
            <a:avLst>
              <a:gd name="adj" fmla="val 4000"/>
            </a:avLst>
          </a:prstGeom>
          <a:solidFill>
            <a:schemeClr val="bg2"/>
          </a:solidFill>
          <a:ln w="9525">
            <a:solidFill>
              <a:srgbClr val="DDE5E0"/>
            </a:solidFill>
            <a:prstDash val="solid"/>
          </a:ln>
        </p:spPr>
      </p:sp>
      <p:sp>
        <p:nvSpPr>
          <p:cNvPr id="10" name="Pastille Cours à remplacer"/>
          <p:cNvSpPr/>
          <p:nvPr/>
        </p:nvSpPr>
        <p:spPr>
          <a:xfrm>
            <a:off x="3227832" y="1554480"/>
            <a:ext cx="548640" cy="548640"/>
          </a:xfrm>
          <a:prstGeom prst="ellipse">
            <a:avLst/>
          </a:prstGeom>
          <a:solidFill>
            <a:schemeClr val="tx2"/>
          </a:solidFill>
          <a:ln/>
        </p:spPr>
      </p:sp>
      <p:pic>
        <p:nvPicPr>
          <p:cNvPr id="11" name="Image 1" descr="Cours à remplacer">    </p:cNvPr>
          <p:cNvPicPr>
            <a:picLocks noChangeAspect="1"/>
          </p:cNvPicPr>
          <p:nvPr/>
        </p:nvPicPr>
        <p:blipFill>
          <a:blip r:embed="rId2"/>
          <a:stretch>
            <a:fillRect/>
          </a:stretch>
        </p:blipFill>
        <p:spPr>
          <a:xfrm>
            <a:off x="3346704" y="1673352"/>
            <a:ext cx="310896" cy="310896"/>
          </a:xfrm>
          <a:prstGeom prst="rect">
            <a:avLst/>
          </a:prstGeom>
        </p:spPr>
      </p:pic>
      <p:sp>
        <p:nvSpPr>
          <p:cNvPr id="12" name="Text 8"/>
          <p:cNvSpPr txBox="1"/>
          <p:nvPr/>
        </p:nvSpPr>
        <p:spPr>
          <a:xfrm>
            <a:off x="2679192" y="2240280"/>
            <a:ext cx="1645920" cy="365760"/>
          </a:xfrm>
          <a:prstGeom prst="rect">
            <a:avLst/>
          </a:prstGeom>
          <a:noFill/>
          <a:ln/>
        </p:spPr>
        <p:txBody>
          <a:bodyPr wrap="square" lIns="0" tIns="0" rIns="0" bIns="0" rtlCol="0" anchor="ctr"/>
          <a:lstStyle/>
          <a:p>
            <a:pPr algn="ctr" indent="0" marL="0">
              <a:buNone/>
            </a:pPr>
            <a:r>
              <a:rPr lang="en-US" sz="1600" b="1" dirty="0">
                <a:solidFill>
                  <a:schemeClr val="tx1"/>
                </a:solidFill>
              </a:rPr>
              <a:t>Cours à remplacer</a:t>
            </a:r>
            <a:endParaRPr lang="en-US" sz="1600" dirty="0"/>
          </a:p>
        </p:txBody>
      </p:sp>
      <p:sp>
        <p:nvSpPr>
          <p:cNvPr id="13" name="Text 9"/>
          <p:cNvSpPr txBox="1"/>
          <p:nvPr/>
        </p:nvSpPr>
        <p:spPr>
          <a:xfrm>
            <a:off x="2697480" y="2651760"/>
            <a:ext cx="1609344" cy="777240"/>
          </a:xfrm>
          <a:prstGeom prst="rect">
            <a:avLst/>
          </a:prstGeom>
          <a:noFill/>
          <a:ln/>
        </p:spPr>
        <p:txBody>
          <a:bodyPr wrap="square" lIns="0" tIns="0" rIns="0" bIns="0" rtlCol="0" anchor="t"/>
          <a:lstStyle/>
          <a:p>
            <a:pPr algn="ctr" indent="0" marL="0">
              <a:buNone/>
            </a:pPr>
            <a:r>
              <a:rPr lang="en-US" sz="1300" dirty="0">
                <a:solidFill>
                  <a:schemeClr val="tx2"/>
                </a:solidFill>
              </a:rPr>
              <a:t>Créés automatiquement pour chaque cours concerné</a:t>
            </a:r>
            <a:endParaRPr lang="en-US" sz="1300" dirty="0"/>
          </a:p>
        </p:txBody>
      </p:sp>
      <p:sp>
        <p:nvSpPr>
          <p:cNvPr id="14" name="Flèche 2"/>
          <p:cNvSpPr txBox="1"/>
          <p:nvPr/>
        </p:nvSpPr>
        <p:spPr>
          <a:xfrm>
            <a:off x="4416552" y="2148840"/>
            <a:ext cx="301752" cy="457200"/>
          </a:xfrm>
          <a:prstGeom prst="rect">
            <a:avLst/>
          </a:prstGeom>
          <a:noFill/>
          <a:ln/>
        </p:spPr>
        <p:txBody>
          <a:bodyPr wrap="square" lIns="0" tIns="0" rIns="0" bIns="0" rtlCol="0" anchor="ctr"/>
          <a:lstStyle/>
          <a:p>
            <a:pPr algn="ctr" indent="0" marL="0">
              <a:buNone/>
            </a:pPr>
            <a:r>
              <a:rPr lang="en-US" sz="2400" b="1" dirty="0">
                <a:solidFill>
                  <a:schemeClr val="accent1"/>
                </a:solidFill>
              </a:rPr>
              <a:t>→</a:t>
            </a:r>
            <a:endParaRPr lang="en-US" sz="2400" dirty="0"/>
          </a:p>
        </p:txBody>
      </p:sp>
      <p:sp>
        <p:nvSpPr>
          <p:cNvPr id="15" name="Carte 3"/>
          <p:cNvSpPr/>
          <p:nvPr/>
        </p:nvSpPr>
        <p:spPr>
          <a:xfrm>
            <a:off x="4718304" y="1371600"/>
            <a:ext cx="1828800" cy="2148840"/>
          </a:xfrm>
          <a:prstGeom prst="roundRect">
            <a:avLst>
              <a:gd name="adj" fmla="val 4000"/>
            </a:avLst>
          </a:prstGeom>
          <a:solidFill>
            <a:schemeClr val="bg2"/>
          </a:solidFill>
          <a:ln w="9525">
            <a:solidFill>
              <a:srgbClr val="DDE5E0"/>
            </a:solidFill>
            <a:prstDash val="solid"/>
          </a:ln>
        </p:spPr>
      </p:sp>
      <p:sp>
        <p:nvSpPr>
          <p:cNvPr id="16" name="Pastille Remplaçants proposés"/>
          <p:cNvSpPr/>
          <p:nvPr/>
        </p:nvSpPr>
        <p:spPr>
          <a:xfrm>
            <a:off x="5358384" y="1554480"/>
            <a:ext cx="548640" cy="548640"/>
          </a:xfrm>
          <a:prstGeom prst="ellipse">
            <a:avLst/>
          </a:prstGeom>
          <a:solidFill>
            <a:schemeClr val="tx2"/>
          </a:solidFill>
          <a:ln/>
        </p:spPr>
      </p:sp>
      <p:pic>
        <p:nvPicPr>
          <p:cNvPr id="17" name="Image 2" descr="Remplaçants proposés">    </p:cNvPr>
          <p:cNvPicPr>
            <a:picLocks noChangeAspect="1"/>
          </p:cNvPicPr>
          <p:nvPr/>
        </p:nvPicPr>
        <p:blipFill>
          <a:blip r:embed="rId3"/>
          <a:stretch>
            <a:fillRect/>
          </a:stretch>
        </p:blipFill>
        <p:spPr>
          <a:xfrm>
            <a:off x="5477256" y="1673352"/>
            <a:ext cx="310896" cy="310896"/>
          </a:xfrm>
          <a:prstGeom prst="rect">
            <a:avLst/>
          </a:prstGeom>
        </p:spPr>
      </p:pic>
      <p:sp>
        <p:nvSpPr>
          <p:cNvPr id="18" name="Text 13"/>
          <p:cNvSpPr txBox="1"/>
          <p:nvPr/>
        </p:nvSpPr>
        <p:spPr>
          <a:xfrm>
            <a:off x="4809744" y="2240280"/>
            <a:ext cx="1645920" cy="365760"/>
          </a:xfrm>
          <a:prstGeom prst="rect">
            <a:avLst/>
          </a:prstGeom>
          <a:noFill/>
          <a:ln/>
        </p:spPr>
        <p:txBody>
          <a:bodyPr wrap="square" lIns="0" tIns="0" rIns="0" bIns="0" rtlCol="0" anchor="ctr"/>
          <a:lstStyle/>
          <a:p>
            <a:pPr algn="ctr" indent="0" marL="0">
              <a:buNone/>
            </a:pPr>
            <a:r>
              <a:rPr lang="en-US" sz="1600" b="1" dirty="0">
                <a:solidFill>
                  <a:schemeClr val="tx1"/>
                </a:solidFill>
              </a:rPr>
              <a:t>Remplaçants proposés</a:t>
            </a:r>
            <a:endParaRPr lang="en-US" sz="1600" dirty="0"/>
          </a:p>
        </p:txBody>
      </p:sp>
      <p:sp>
        <p:nvSpPr>
          <p:cNvPr id="19" name="Text 14"/>
          <p:cNvSpPr txBox="1"/>
          <p:nvPr/>
        </p:nvSpPr>
        <p:spPr>
          <a:xfrm>
            <a:off x="4828032" y="2651760"/>
            <a:ext cx="1609344" cy="777240"/>
          </a:xfrm>
          <a:prstGeom prst="rect">
            <a:avLst/>
          </a:prstGeom>
          <a:noFill/>
          <a:ln/>
        </p:spPr>
        <p:txBody>
          <a:bodyPr wrap="square" lIns="0" tIns="0" rIns="0" bIns="0" rtlCol="0" anchor="t"/>
          <a:lstStyle/>
          <a:p>
            <a:pPr algn="ctr" indent="0" marL="0">
              <a:buNone/>
            </a:pPr>
            <a:r>
              <a:rPr lang="en-US" sz="1300" dirty="0">
                <a:solidFill>
                  <a:schemeClr val="tx2"/>
                </a:solidFill>
              </a:rPr>
              <a:t>Professeurs libres, même matière d'abord</a:t>
            </a:r>
            <a:endParaRPr lang="en-US" sz="1300" dirty="0"/>
          </a:p>
        </p:txBody>
      </p:sp>
      <p:sp>
        <p:nvSpPr>
          <p:cNvPr id="20" name="Flèche 3"/>
          <p:cNvSpPr txBox="1"/>
          <p:nvPr/>
        </p:nvSpPr>
        <p:spPr>
          <a:xfrm>
            <a:off x="6547104" y="2148840"/>
            <a:ext cx="301752" cy="457200"/>
          </a:xfrm>
          <a:prstGeom prst="rect">
            <a:avLst/>
          </a:prstGeom>
          <a:noFill/>
          <a:ln/>
        </p:spPr>
        <p:txBody>
          <a:bodyPr wrap="square" lIns="0" tIns="0" rIns="0" bIns="0" rtlCol="0" anchor="ctr"/>
          <a:lstStyle/>
          <a:p>
            <a:pPr algn="ctr" indent="0" marL="0">
              <a:buNone/>
            </a:pPr>
            <a:r>
              <a:rPr lang="en-US" sz="2400" b="1" dirty="0">
                <a:solidFill>
                  <a:schemeClr val="accent1"/>
                </a:solidFill>
              </a:rPr>
              <a:t>→</a:t>
            </a:r>
            <a:endParaRPr lang="en-US" sz="2400" dirty="0"/>
          </a:p>
        </p:txBody>
      </p:sp>
      <p:sp>
        <p:nvSpPr>
          <p:cNvPr id="21" name="Carte 4"/>
          <p:cNvSpPr/>
          <p:nvPr/>
        </p:nvSpPr>
        <p:spPr>
          <a:xfrm>
            <a:off x="6848856" y="1371600"/>
            <a:ext cx="1828800" cy="2148840"/>
          </a:xfrm>
          <a:prstGeom prst="roundRect">
            <a:avLst>
              <a:gd name="adj" fmla="val 4000"/>
            </a:avLst>
          </a:prstGeom>
          <a:solidFill>
            <a:schemeClr val="bg2"/>
          </a:solidFill>
          <a:ln w="9525">
            <a:solidFill>
              <a:srgbClr val="DDE5E0"/>
            </a:solidFill>
            <a:prstDash val="solid"/>
          </a:ln>
        </p:spPr>
      </p:sp>
      <p:sp>
        <p:nvSpPr>
          <p:cNvPr id="22" name="Pastille Équipe prévenue"/>
          <p:cNvSpPr/>
          <p:nvPr/>
        </p:nvSpPr>
        <p:spPr>
          <a:xfrm>
            <a:off x="7488936" y="1554480"/>
            <a:ext cx="548640" cy="548640"/>
          </a:xfrm>
          <a:prstGeom prst="ellipse">
            <a:avLst/>
          </a:prstGeom>
          <a:solidFill>
            <a:schemeClr val="tx2"/>
          </a:solidFill>
          <a:ln/>
        </p:spPr>
      </p:sp>
      <p:pic>
        <p:nvPicPr>
          <p:cNvPr id="23" name="Image 3" descr="Équipe prévenue">    </p:cNvPr>
          <p:cNvPicPr>
            <a:picLocks noChangeAspect="1"/>
          </p:cNvPicPr>
          <p:nvPr/>
        </p:nvPicPr>
        <p:blipFill>
          <a:blip r:embed="rId4"/>
          <a:stretch>
            <a:fillRect/>
          </a:stretch>
        </p:blipFill>
        <p:spPr>
          <a:xfrm>
            <a:off x="7607808" y="1673352"/>
            <a:ext cx="310896" cy="310896"/>
          </a:xfrm>
          <a:prstGeom prst="rect">
            <a:avLst/>
          </a:prstGeom>
        </p:spPr>
      </p:pic>
      <p:sp>
        <p:nvSpPr>
          <p:cNvPr id="24" name="Text 18"/>
          <p:cNvSpPr txBox="1"/>
          <p:nvPr/>
        </p:nvSpPr>
        <p:spPr>
          <a:xfrm>
            <a:off x="6940296" y="2240280"/>
            <a:ext cx="1645920" cy="365760"/>
          </a:xfrm>
          <a:prstGeom prst="rect">
            <a:avLst/>
          </a:prstGeom>
          <a:noFill/>
          <a:ln/>
        </p:spPr>
        <p:txBody>
          <a:bodyPr wrap="square" lIns="0" tIns="0" rIns="0" bIns="0" rtlCol="0" anchor="ctr"/>
          <a:lstStyle/>
          <a:p>
            <a:pPr algn="ctr" indent="0" marL="0">
              <a:buNone/>
            </a:pPr>
            <a:r>
              <a:rPr lang="en-US" sz="1600" b="1" dirty="0">
                <a:solidFill>
                  <a:schemeClr val="tx1"/>
                </a:solidFill>
              </a:rPr>
              <a:t>Équipe prévenue</a:t>
            </a:r>
            <a:endParaRPr lang="en-US" sz="1600" dirty="0"/>
          </a:p>
        </p:txBody>
      </p:sp>
      <p:sp>
        <p:nvSpPr>
          <p:cNvPr id="25" name="Text 19"/>
          <p:cNvSpPr txBox="1"/>
          <p:nvPr/>
        </p:nvSpPr>
        <p:spPr>
          <a:xfrm>
            <a:off x="6958584" y="2651760"/>
            <a:ext cx="1609344" cy="777240"/>
          </a:xfrm>
          <a:prstGeom prst="rect">
            <a:avLst/>
          </a:prstGeom>
          <a:noFill/>
          <a:ln/>
        </p:spPr>
        <p:txBody>
          <a:bodyPr wrap="square" lIns="0" tIns="0" rIns="0" bIns="0" rtlCol="0" anchor="t"/>
          <a:lstStyle/>
          <a:p>
            <a:pPr algn="ctr" indent="0" marL="0">
              <a:buNone/>
            </a:pPr>
            <a:r>
              <a:rPr lang="en-US" sz="1300" dirty="0">
                <a:solidFill>
                  <a:schemeClr val="tx2"/>
                </a:solidFill>
              </a:rPr>
              <a:t>Message automatique aux remplaçants</a:t>
            </a:r>
            <a:endParaRPr lang="en-US" sz="1300" dirty="0"/>
          </a:p>
        </p:txBody>
      </p:sp>
      <p:sp>
        <p:nvSpPr>
          <p:cNvPr id="26" name="Text 20"/>
          <p:cNvSpPr txBox="1"/>
          <p:nvPr/>
        </p:nvSpPr>
        <p:spPr>
          <a:xfrm>
            <a:off x="457200" y="3840480"/>
            <a:ext cx="8229600" cy="457200"/>
          </a:xfrm>
          <a:prstGeom prst="rect">
            <a:avLst/>
          </a:prstGeom>
          <a:noFill/>
          <a:ln/>
        </p:spPr>
        <p:txBody>
          <a:bodyPr wrap="square" lIns="0" tIns="0" rIns="0" bIns="0" rtlCol="0" anchor="ctr"/>
          <a:lstStyle/>
          <a:p>
            <a:pPr indent="0" marL="0">
              <a:buNone/>
            </a:pPr>
            <a:r>
              <a:rPr lang="en-US" sz="1600" dirty="0">
                <a:solidFill>
                  <a:schemeClr val="tx1"/>
                </a:solidFill>
              </a:rPr>
              <a:t>Le même enchaînement alimente « Cours perturbés », les rapports, le comptage des heures et l'historique.</a:t>
            </a:r>
            <a:endParaRPr lang="en-US" sz="16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Six rubriques, une logique</a:t>
            </a:r>
            <a:endParaRPr lang="en-US" sz="2800" dirty="0"/>
          </a:p>
        </p:txBody>
      </p:sp>
      <p:sp>
        <p:nvSpPr>
          <p:cNvPr id="3" name="Rubrique 1"/>
          <p:cNvSpPr/>
          <p:nvPr/>
        </p:nvSpPr>
        <p:spPr>
          <a:xfrm>
            <a:off x="457200" y="1188720"/>
            <a:ext cx="2606040" cy="1600200"/>
          </a:xfrm>
          <a:prstGeom prst="roundRect">
            <a:avLst>
              <a:gd name="adj" fmla="val 4571"/>
            </a:avLst>
          </a:prstGeom>
          <a:solidFill>
            <a:schemeClr val="bg2"/>
          </a:solidFill>
          <a:ln w="9525">
            <a:solidFill>
              <a:srgbClr val="DDE5E0"/>
            </a:solidFill>
            <a:prstDash val="solid"/>
          </a:ln>
        </p:spPr>
      </p:sp>
      <p:sp>
        <p:nvSpPr>
          <p:cNvPr id="4" name="Pastille rubrique 1"/>
          <p:cNvSpPr/>
          <p:nvPr/>
        </p:nvSpPr>
        <p:spPr>
          <a:xfrm>
            <a:off x="621792" y="1353312"/>
            <a:ext cx="457200" cy="457200"/>
          </a:xfrm>
          <a:prstGeom prst="ellipse">
            <a:avLst/>
          </a:prstGeom>
          <a:solidFill>
            <a:schemeClr val="tx2"/>
          </a:solidFill>
          <a:ln/>
        </p:spPr>
      </p:sp>
      <p:pic>
        <p:nvPicPr>
          <p:cNvPr id="5" name="Image 0" descr="1. Élèves et vie scolaire">    </p:cNvPr>
          <p:cNvPicPr>
            <a:picLocks noChangeAspect="1"/>
          </p:cNvPicPr>
          <p:nvPr/>
        </p:nvPicPr>
        <p:blipFill>
          <a:blip r:embed="rId1"/>
          <a:stretch>
            <a:fillRect/>
          </a:stretch>
        </p:blipFill>
        <p:spPr>
          <a:xfrm>
            <a:off x="722376" y="1453896"/>
            <a:ext cx="256032" cy="256032"/>
          </a:xfrm>
          <a:prstGeom prst="rect">
            <a:avLst/>
          </a:prstGeom>
        </p:spPr>
      </p:pic>
      <p:sp>
        <p:nvSpPr>
          <p:cNvPr id="6" name="Text 3"/>
          <p:cNvSpPr txBox="1"/>
          <p:nvPr/>
        </p:nvSpPr>
        <p:spPr>
          <a:xfrm>
            <a:off x="1188720" y="1353312"/>
            <a:ext cx="1737360" cy="457200"/>
          </a:xfrm>
          <a:prstGeom prst="rect">
            <a:avLst/>
          </a:prstGeom>
          <a:noFill/>
          <a:ln/>
        </p:spPr>
        <p:txBody>
          <a:bodyPr wrap="square" lIns="0" tIns="0" rIns="0" bIns="0" rtlCol="0" anchor="ctr"/>
          <a:lstStyle/>
          <a:p>
            <a:pPr indent="0" marL="0">
              <a:buNone/>
            </a:pPr>
            <a:r>
              <a:rPr lang="en-US" sz="1500" b="1" dirty="0">
                <a:solidFill>
                  <a:schemeClr val="tx1"/>
                </a:solidFill>
              </a:rPr>
              <a:t>1. Élèves et vie scolaire</a:t>
            </a:r>
            <a:endParaRPr lang="en-US" sz="1500" dirty="0"/>
          </a:p>
        </p:txBody>
      </p:sp>
      <p:sp>
        <p:nvSpPr>
          <p:cNvPr id="7" name="Text 4"/>
          <p:cNvSpPr txBox="1"/>
          <p:nvPr/>
        </p:nvSpPr>
        <p:spPr>
          <a:xfrm>
            <a:off x="621792" y="1920240"/>
            <a:ext cx="2276856" cy="777240"/>
          </a:xfrm>
          <a:prstGeom prst="rect">
            <a:avLst/>
          </a:prstGeom>
          <a:noFill/>
          <a:ln/>
        </p:spPr>
        <p:txBody>
          <a:bodyPr wrap="square" lIns="0" tIns="0" rIns="0" bIns="0" rtlCol="0" anchor="t"/>
          <a:lstStyle/>
          <a:p>
            <a:pPr indent="0" marL="0">
              <a:buNone/>
            </a:pPr>
            <a:r>
              <a:rPr lang="en-US" sz="1200" dirty="0">
                <a:solidFill>
                  <a:schemeClr val="tx2"/>
                </a:solidFill>
              </a:rPr>
              <a:t>Élèves, groupes, notes et bulletins, assiduité, remplacements, incidents, infirmerie</a:t>
            </a:r>
            <a:endParaRPr lang="en-US" sz="1200" dirty="0"/>
          </a:p>
        </p:txBody>
      </p:sp>
      <p:sp>
        <p:nvSpPr>
          <p:cNvPr id="8" name="Rubrique 2"/>
          <p:cNvSpPr/>
          <p:nvPr/>
        </p:nvSpPr>
        <p:spPr>
          <a:xfrm>
            <a:off x="3268980" y="1188720"/>
            <a:ext cx="2606040" cy="1600200"/>
          </a:xfrm>
          <a:prstGeom prst="roundRect">
            <a:avLst>
              <a:gd name="adj" fmla="val 4571"/>
            </a:avLst>
          </a:prstGeom>
          <a:solidFill>
            <a:schemeClr val="bg2"/>
          </a:solidFill>
          <a:ln w="9525">
            <a:solidFill>
              <a:srgbClr val="DDE5E0"/>
            </a:solidFill>
            <a:prstDash val="solid"/>
          </a:ln>
        </p:spPr>
      </p:sp>
      <p:sp>
        <p:nvSpPr>
          <p:cNvPr id="9" name="Pastille rubrique 2"/>
          <p:cNvSpPr/>
          <p:nvPr/>
        </p:nvSpPr>
        <p:spPr>
          <a:xfrm>
            <a:off x="3433572" y="1353312"/>
            <a:ext cx="457200" cy="457200"/>
          </a:xfrm>
          <a:prstGeom prst="ellipse">
            <a:avLst/>
          </a:prstGeom>
          <a:solidFill>
            <a:schemeClr val="tx2"/>
          </a:solidFill>
          <a:ln/>
        </p:spPr>
      </p:sp>
      <p:pic>
        <p:nvPicPr>
          <p:cNvPr id="10" name="Image 1" descr="2. Personnel">    </p:cNvPr>
          <p:cNvPicPr>
            <a:picLocks noChangeAspect="1"/>
          </p:cNvPicPr>
          <p:nvPr/>
        </p:nvPicPr>
        <p:blipFill>
          <a:blip r:embed="rId2"/>
          <a:stretch>
            <a:fillRect/>
          </a:stretch>
        </p:blipFill>
        <p:spPr>
          <a:xfrm>
            <a:off x="3534156" y="1453896"/>
            <a:ext cx="256032" cy="256032"/>
          </a:xfrm>
          <a:prstGeom prst="rect">
            <a:avLst/>
          </a:prstGeom>
        </p:spPr>
      </p:pic>
      <p:sp>
        <p:nvSpPr>
          <p:cNvPr id="11" name="Text 7"/>
          <p:cNvSpPr txBox="1"/>
          <p:nvPr/>
        </p:nvSpPr>
        <p:spPr>
          <a:xfrm>
            <a:off x="4000500" y="1353312"/>
            <a:ext cx="1737360" cy="457200"/>
          </a:xfrm>
          <a:prstGeom prst="rect">
            <a:avLst/>
          </a:prstGeom>
          <a:noFill/>
          <a:ln/>
        </p:spPr>
        <p:txBody>
          <a:bodyPr wrap="square" lIns="0" tIns="0" rIns="0" bIns="0" rtlCol="0" anchor="ctr"/>
          <a:lstStyle/>
          <a:p>
            <a:pPr indent="0" marL="0">
              <a:buNone/>
            </a:pPr>
            <a:r>
              <a:rPr lang="en-US" sz="1500" b="1" dirty="0">
                <a:solidFill>
                  <a:schemeClr val="tx1"/>
                </a:solidFill>
              </a:rPr>
              <a:t>2. Personnel</a:t>
            </a:r>
            <a:endParaRPr lang="en-US" sz="1500" dirty="0"/>
          </a:p>
        </p:txBody>
      </p:sp>
      <p:sp>
        <p:nvSpPr>
          <p:cNvPr id="12" name="Text 8"/>
          <p:cNvSpPr txBox="1"/>
          <p:nvPr/>
        </p:nvSpPr>
        <p:spPr>
          <a:xfrm>
            <a:off x="3433572" y="1920240"/>
            <a:ext cx="2276856" cy="777240"/>
          </a:xfrm>
          <a:prstGeom prst="rect">
            <a:avLst/>
          </a:prstGeom>
          <a:noFill/>
          <a:ln/>
        </p:spPr>
        <p:txBody>
          <a:bodyPr wrap="square" lIns="0" tIns="0" rIns="0" bIns="0" rtlCol="0" anchor="t"/>
          <a:lstStyle/>
          <a:p>
            <a:pPr indent="0" marL="0">
              <a:buNone/>
            </a:pPr>
            <a:r>
              <a:rPr lang="en-US" sz="1200" dirty="0">
                <a:solidFill>
                  <a:schemeClr val="tx2"/>
                </a:solidFill>
              </a:rPr>
              <a:t>Professeurs, personnel de vie scolaire, emplois du temps, planning, comptage des heures</a:t>
            </a:r>
            <a:endParaRPr lang="en-US" sz="1200" dirty="0"/>
          </a:p>
        </p:txBody>
      </p:sp>
      <p:sp>
        <p:nvSpPr>
          <p:cNvPr id="13" name="Rubrique 3"/>
          <p:cNvSpPr/>
          <p:nvPr/>
        </p:nvSpPr>
        <p:spPr>
          <a:xfrm>
            <a:off x="6080760" y="1188720"/>
            <a:ext cx="2606040" cy="1600200"/>
          </a:xfrm>
          <a:prstGeom prst="roundRect">
            <a:avLst>
              <a:gd name="adj" fmla="val 4571"/>
            </a:avLst>
          </a:prstGeom>
          <a:solidFill>
            <a:schemeClr val="bg2"/>
          </a:solidFill>
          <a:ln w="9525">
            <a:solidFill>
              <a:srgbClr val="DDE5E0"/>
            </a:solidFill>
            <a:prstDash val="solid"/>
          </a:ln>
        </p:spPr>
      </p:sp>
      <p:sp>
        <p:nvSpPr>
          <p:cNvPr id="14" name="Pastille rubrique 3"/>
          <p:cNvSpPr/>
          <p:nvPr/>
        </p:nvSpPr>
        <p:spPr>
          <a:xfrm>
            <a:off x="6245352" y="1353312"/>
            <a:ext cx="457200" cy="457200"/>
          </a:xfrm>
          <a:prstGeom prst="ellipse">
            <a:avLst/>
          </a:prstGeom>
          <a:solidFill>
            <a:schemeClr val="tx2"/>
          </a:solidFill>
          <a:ln/>
        </p:spPr>
      </p:sp>
      <p:pic>
        <p:nvPicPr>
          <p:cNvPr id="15" name="Image 2" descr="3. Planification et suivi">    </p:cNvPr>
          <p:cNvPicPr>
            <a:picLocks noChangeAspect="1"/>
          </p:cNvPicPr>
          <p:nvPr/>
        </p:nvPicPr>
        <p:blipFill>
          <a:blip r:embed="rId3"/>
          <a:stretch>
            <a:fillRect/>
          </a:stretch>
        </p:blipFill>
        <p:spPr>
          <a:xfrm>
            <a:off x="6345936" y="1453896"/>
            <a:ext cx="256032" cy="256032"/>
          </a:xfrm>
          <a:prstGeom prst="rect">
            <a:avLst/>
          </a:prstGeom>
        </p:spPr>
      </p:pic>
      <p:sp>
        <p:nvSpPr>
          <p:cNvPr id="16" name="Text 11"/>
          <p:cNvSpPr txBox="1"/>
          <p:nvPr/>
        </p:nvSpPr>
        <p:spPr>
          <a:xfrm>
            <a:off x="6812280" y="1353312"/>
            <a:ext cx="1737360" cy="457200"/>
          </a:xfrm>
          <a:prstGeom prst="rect">
            <a:avLst/>
          </a:prstGeom>
          <a:noFill/>
          <a:ln/>
        </p:spPr>
        <p:txBody>
          <a:bodyPr wrap="square" lIns="0" tIns="0" rIns="0" bIns="0" rtlCol="0" anchor="ctr"/>
          <a:lstStyle/>
          <a:p>
            <a:pPr indent="0" marL="0">
              <a:buNone/>
            </a:pPr>
            <a:r>
              <a:rPr lang="en-US" sz="1500" b="1" dirty="0">
                <a:solidFill>
                  <a:schemeClr val="tx1"/>
                </a:solidFill>
              </a:rPr>
              <a:t>3. Planification et suivi</a:t>
            </a:r>
            <a:endParaRPr lang="en-US" sz="1500" dirty="0"/>
          </a:p>
        </p:txBody>
      </p:sp>
      <p:sp>
        <p:nvSpPr>
          <p:cNvPr id="17" name="Text 12"/>
          <p:cNvSpPr txBox="1"/>
          <p:nvPr/>
        </p:nvSpPr>
        <p:spPr>
          <a:xfrm>
            <a:off x="6245352" y="1920240"/>
            <a:ext cx="2276856" cy="777240"/>
          </a:xfrm>
          <a:prstGeom prst="rect">
            <a:avLst/>
          </a:prstGeom>
          <a:noFill/>
          <a:ln/>
        </p:spPr>
        <p:txBody>
          <a:bodyPr wrap="square" lIns="0" tIns="0" rIns="0" bIns="0" rtlCol="0" anchor="t"/>
          <a:lstStyle/>
          <a:p>
            <a:pPr indent="0" marL="0">
              <a:buNone/>
            </a:pPr>
            <a:r>
              <a:rPr lang="en-US" sz="1200" dirty="0">
                <a:solidFill>
                  <a:schemeClr val="tx2"/>
                </a:solidFill>
              </a:rPr>
              <a:t>Matières et heures par niveau, génération des emplois du temps, tâches, rapports</a:t>
            </a:r>
            <a:endParaRPr lang="en-US" sz="1200" dirty="0"/>
          </a:p>
        </p:txBody>
      </p:sp>
      <p:sp>
        <p:nvSpPr>
          <p:cNvPr id="18" name="Rubrique 4"/>
          <p:cNvSpPr/>
          <p:nvPr/>
        </p:nvSpPr>
        <p:spPr>
          <a:xfrm>
            <a:off x="457200" y="2971800"/>
            <a:ext cx="2606040" cy="1600200"/>
          </a:xfrm>
          <a:prstGeom prst="roundRect">
            <a:avLst>
              <a:gd name="adj" fmla="val 4571"/>
            </a:avLst>
          </a:prstGeom>
          <a:solidFill>
            <a:schemeClr val="bg2"/>
          </a:solidFill>
          <a:ln w="9525">
            <a:solidFill>
              <a:srgbClr val="DDE5E0"/>
            </a:solidFill>
            <a:prstDash val="solid"/>
          </a:ln>
        </p:spPr>
      </p:sp>
      <p:sp>
        <p:nvSpPr>
          <p:cNvPr id="19" name="Pastille rubrique 4"/>
          <p:cNvSpPr/>
          <p:nvPr/>
        </p:nvSpPr>
        <p:spPr>
          <a:xfrm>
            <a:off x="621792" y="3136392"/>
            <a:ext cx="457200" cy="457200"/>
          </a:xfrm>
          <a:prstGeom prst="ellipse">
            <a:avLst/>
          </a:prstGeom>
          <a:solidFill>
            <a:schemeClr val="tx2"/>
          </a:solidFill>
          <a:ln/>
        </p:spPr>
      </p:sp>
      <p:pic>
        <p:nvPicPr>
          <p:cNvPr id="20" name="Image 3" descr="4. Documents et réunions">    </p:cNvPr>
          <p:cNvPicPr>
            <a:picLocks noChangeAspect="1"/>
          </p:cNvPicPr>
          <p:nvPr/>
        </p:nvPicPr>
        <p:blipFill>
          <a:blip r:embed="rId4"/>
          <a:stretch>
            <a:fillRect/>
          </a:stretch>
        </p:blipFill>
        <p:spPr>
          <a:xfrm>
            <a:off x="722376" y="3236976"/>
            <a:ext cx="256032" cy="256032"/>
          </a:xfrm>
          <a:prstGeom prst="rect">
            <a:avLst/>
          </a:prstGeom>
        </p:spPr>
      </p:pic>
      <p:sp>
        <p:nvSpPr>
          <p:cNvPr id="21" name="Text 15"/>
          <p:cNvSpPr txBox="1"/>
          <p:nvPr/>
        </p:nvSpPr>
        <p:spPr>
          <a:xfrm>
            <a:off x="1188720" y="3136392"/>
            <a:ext cx="1737360" cy="457200"/>
          </a:xfrm>
          <a:prstGeom prst="rect">
            <a:avLst/>
          </a:prstGeom>
          <a:noFill/>
          <a:ln/>
        </p:spPr>
        <p:txBody>
          <a:bodyPr wrap="square" lIns="0" tIns="0" rIns="0" bIns="0" rtlCol="0" anchor="ctr"/>
          <a:lstStyle/>
          <a:p>
            <a:pPr indent="0" marL="0">
              <a:buNone/>
            </a:pPr>
            <a:r>
              <a:rPr lang="en-US" sz="1500" b="1" dirty="0">
                <a:solidFill>
                  <a:schemeClr val="tx1"/>
                </a:solidFill>
              </a:rPr>
              <a:t>4. Documents et réunions</a:t>
            </a:r>
            <a:endParaRPr lang="en-US" sz="1500" dirty="0"/>
          </a:p>
        </p:txBody>
      </p:sp>
      <p:sp>
        <p:nvSpPr>
          <p:cNvPr id="22" name="Text 16"/>
          <p:cNvSpPr txBox="1"/>
          <p:nvPr/>
        </p:nvSpPr>
        <p:spPr>
          <a:xfrm>
            <a:off x="621792" y="3703320"/>
            <a:ext cx="2276856" cy="777240"/>
          </a:xfrm>
          <a:prstGeom prst="rect">
            <a:avLst/>
          </a:prstGeom>
          <a:noFill/>
          <a:ln/>
        </p:spPr>
        <p:txBody>
          <a:bodyPr wrap="square" lIns="0" tIns="0" rIns="0" bIns="0" rtlCol="0" anchor="t"/>
          <a:lstStyle/>
          <a:p>
            <a:pPr indent="0" marL="0">
              <a:buNone/>
            </a:pPr>
            <a:r>
              <a:rPr lang="en-US" sz="1200" dirty="0">
                <a:solidFill>
                  <a:schemeClr val="tx2"/>
                </a:solidFill>
              </a:rPr>
              <a:t>Réunions et comptes rendus, rédaction assistée, bibliothèque de documents</a:t>
            </a:r>
            <a:endParaRPr lang="en-US" sz="1200" dirty="0"/>
          </a:p>
        </p:txBody>
      </p:sp>
      <p:sp>
        <p:nvSpPr>
          <p:cNvPr id="23" name="Rubrique 5"/>
          <p:cNvSpPr/>
          <p:nvPr/>
        </p:nvSpPr>
        <p:spPr>
          <a:xfrm>
            <a:off x="3268980" y="2971800"/>
            <a:ext cx="2606040" cy="1600200"/>
          </a:xfrm>
          <a:prstGeom prst="roundRect">
            <a:avLst>
              <a:gd name="adj" fmla="val 4571"/>
            </a:avLst>
          </a:prstGeom>
          <a:solidFill>
            <a:schemeClr val="bg2"/>
          </a:solidFill>
          <a:ln w="9525">
            <a:solidFill>
              <a:srgbClr val="DDE5E0"/>
            </a:solidFill>
            <a:prstDash val="solid"/>
          </a:ln>
        </p:spPr>
      </p:sp>
      <p:sp>
        <p:nvSpPr>
          <p:cNvPr id="24" name="Pastille rubrique 5"/>
          <p:cNvSpPr/>
          <p:nvPr/>
        </p:nvSpPr>
        <p:spPr>
          <a:xfrm>
            <a:off x="3433572" y="3136392"/>
            <a:ext cx="457200" cy="457200"/>
          </a:xfrm>
          <a:prstGeom prst="ellipse">
            <a:avLst/>
          </a:prstGeom>
          <a:solidFill>
            <a:schemeClr val="tx2"/>
          </a:solidFill>
          <a:ln/>
        </p:spPr>
      </p:sp>
      <p:pic>
        <p:nvPicPr>
          <p:cNvPr id="25" name="Image 4" descr="5. Administration">    </p:cNvPr>
          <p:cNvPicPr>
            <a:picLocks noChangeAspect="1"/>
          </p:cNvPicPr>
          <p:nvPr/>
        </p:nvPicPr>
        <p:blipFill>
          <a:blip r:embed="rId5"/>
          <a:stretch>
            <a:fillRect/>
          </a:stretch>
        </p:blipFill>
        <p:spPr>
          <a:xfrm>
            <a:off x="3534156" y="3236976"/>
            <a:ext cx="256032" cy="256032"/>
          </a:xfrm>
          <a:prstGeom prst="rect">
            <a:avLst/>
          </a:prstGeom>
        </p:spPr>
      </p:pic>
      <p:sp>
        <p:nvSpPr>
          <p:cNvPr id="26" name="Text 19"/>
          <p:cNvSpPr txBox="1"/>
          <p:nvPr/>
        </p:nvSpPr>
        <p:spPr>
          <a:xfrm>
            <a:off x="4000500" y="3136392"/>
            <a:ext cx="1737360" cy="457200"/>
          </a:xfrm>
          <a:prstGeom prst="rect">
            <a:avLst/>
          </a:prstGeom>
          <a:noFill/>
          <a:ln/>
        </p:spPr>
        <p:txBody>
          <a:bodyPr wrap="square" lIns="0" tIns="0" rIns="0" bIns="0" rtlCol="0" anchor="ctr"/>
          <a:lstStyle/>
          <a:p>
            <a:pPr indent="0" marL="0">
              <a:buNone/>
            </a:pPr>
            <a:r>
              <a:rPr lang="en-US" sz="1500" b="1" dirty="0">
                <a:solidFill>
                  <a:schemeClr val="tx1"/>
                </a:solidFill>
              </a:rPr>
              <a:t>5. Administration</a:t>
            </a:r>
            <a:endParaRPr lang="en-US" sz="1500" dirty="0"/>
          </a:p>
        </p:txBody>
      </p:sp>
      <p:sp>
        <p:nvSpPr>
          <p:cNvPr id="27" name="Text 20"/>
          <p:cNvSpPr txBox="1"/>
          <p:nvPr/>
        </p:nvSpPr>
        <p:spPr>
          <a:xfrm>
            <a:off x="3433572" y="3703320"/>
            <a:ext cx="2276856" cy="777240"/>
          </a:xfrm>
          <a:prstGeom prst="rect">
            <a:avLst/>
          </a:prstGeom>
          <a:noFill/>
          <a:ln/>
        </p:spPr>
        <p:txBody>
          <a:bodyPr wrap="square" lIns="0" tIns="0" rIns="0" bIns="0" rtlCol="0" anchor="t"/>
          <a:lstStyle/>
          <a:p>
            <a:pPr indent="0" marL="0">
              <a:buNone/>
            </a:pPr>
            <a:r>
              <a:rPr lang="en-US" sz="1200" dirty="0">
                <a:solidFill>
                  <a:schemeClr val="tx2"/>
                </a:solidFill>
              </a:rPr>
              <a:t>Utilisateurs, périodes, établissements, sauvegarde, sécurité, RGPD</a:t>
            </a:r>
            <a:endParaRPr lang="en-US" sz="1200" dirty="0"/>
          </a:p>
        </p:txBody>
      </p:sp>
      <p:sp>
        <p:nvSpPr>
          <p:cNvPr id="28" name="Rubrique 6"/>
          <p:cNvSpPr/>
          <p:nvPr/>
        </p:nvSpPr>
        <p:spPr>
          <a:xfrm>
            <a:off x="6080760" y="2971800"/>
            <a:ext cx="2606040" cy="1600200"/>
          </a:xfrm>
          <a:prstGeom prst="roundRect">
            <a:avLst>
              <a:gd name="adj" fmla="val 4571"/>
            </a:avLst>
          </a:prstGeom>
          <a:solidFill>
            <a:schemeClr val="bg2"/>
          </a:solidFill>
          <a:ln w="9525">
            <a:solidFill>
              <a:srgbClr val="DDE5E0"/>
            </a:solidFill>
            <a:prstDash val="solid"/>
          </a:ln>
        </p:spPr>
      </p:sp>
      <p:sp>
        <p:nvSpPr>
          <p:cNvPr id="29" name="Pastille rubrique 6"/>
          <p:cNvSpPr/>
          <p:nvPr/>
        </p:nvSpPr>
        <p:spPr>
          <a:xfrm>
            <a:off x="6245352" y="3136392"/>
            <a:ext cx="457200" cy="457200"/>
          </a:xfrm>
          <a:prstGeom prst="ellipse">
            <a:avLst/>
          </a:prstGeom>
          <a:solidFill>
            <a:schemeClr val="tx2"/>
          </a:solidFill>
          <a:ln/>
        </p:spPr>
      </p:sp>
      <p:pic>
        <p:nvPicPr>
          <p:cNvPr id="30" name="Image 5" descr="6. Mon compte">    </p:cNvPr>
          <p:cNvPicPr>
            <a:picLocks noChangeAspect="1"/>
          </p:cNvPicPr>
          <p:nvPr/>
        </p:nvPicPr>
        <p:blipFill>
          <a:blip r:embed="rId6"/>
          <a:stretch>
            <a:fillRect/>
          </a:stretch>
        </p:blipFill>
        <p:spPr>
          <a:xfrm>
            <a:off x="6345936" y="3236976"/>
            <a:ext cx="256032" cy="256032"/>
          </a:xfrm>
          <a:prstGeom prst="rect">
            <a:avLst/>
          </a:prstGeom>
        </p:spPr>
      </p:pic>
      <p:sp>
        <p:nvSpPr>
          <p:cNvPr id="31" name="Text 23"/>
          <p:cNvSpPr txBox="1"/>
          <p:nvPr/>
        </p:nvSpPr>
        <p:spPr>
          <a:xfrm>
            <a:off x="6812280" y="3136392"/>
            <a:ext cx="1737360" cy="457200"/>
          </a:xfrm>
          <a:prstGeom prst="rect">
            <a:avLst/>
          </a:prstGeom>
          <a:noFill/>
          <a:ln/>
        </p:spPr>
        <p:txBody>
          <a:bodyPr wrap="square" lIns="0" tIns="0" rIns="0" bIns="0" rtlCol="0" anchor="ctr"/>
          <a:lstStyle/>
          <a:p>
            <a:pPr indent="0" marL="0">
              <a:buNone/>
            </a:pPr>
            <a:r>
              <a:rPr lang="en-US" sz="1500" b="1" dirty="0">
                <a:solidFill>
                  <a:schemeClr val="tx1"/>
                </a:solidFill>
              </a:rPr>
              <a:t>6. Mon compte</a:t>
            </a:r>
            <a:endParaRPr lang="en-US" sz="1500" dirty="0"/>
          </a:p>
        </p:txBody>
      </p:sp>
      <p:sp>
        <p:nvSpPr>
          <p:cNvPr id="32" name="Text 24"/>
          <p:cNvSpPr txBox="1"/>
          <p:nvPr/>
        </p:nvSpPr>
        <p:spPr>
          <a:xfrm>
            <a:off x="6245352" y="3703320"/>
            <a:ext cx="2276856" cy="777240"/>
          </a:xfrm>
          <a:prstGeom prst="rect">
            <a:avLst/>
          </a:prstGeom>
          <a:noFill/>
          <a:ln/>
        </p:spPr>
        <p:txBody>
          <a:bodyPr wrap="square" lIns="0" tIns="0" rIns="0" bIns="0" rtlCol="0" anchor="t"/>
          <a:lstStyle/>
          <a:p>
            <a:pPr indent="0" marL="0">
              <a:buNone/>
            </a:pPr>
            <a:r>
              <a:rPr lang="en-US" sz="1200" dirty="0">
                <a:solidFill>
                  <a:schemeClr val="tx2"/>
                </a:solidFill>
              </a:rPr>
              <a:t>Mot de passe, double authentification, déconnexion</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Un tableau de bord coloré qui indique quoi faire</a:t>
            </a:r>
            <a:endParaRPr lang="en-US" sz="2800" dirty="0"/>
          </a:p>
        </p:txBody>
      </p:sp>
      <p:sp>
        <p:nvSpPr>
          <p:cNvPr id="3" name="Texte"/>
          <p:cNvSpPr txBox="1"/>
          <p:nvPr/>
        </p:nvSpPr>
        <p:spPr>
          <a:xfrm>
            <a:off x="457200" y="1188720"/>
            <a:ext cx="3108960" cy="3383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Huit tuiles : élèves, professeurs, absents, remplacements, incidents, messages, tâches</a:t>
            </a:r>
            <a:endParaRPr lang="en-US" sz="1400" dirty="0"/>
          </a:p>
          <a:p>
            <a:pPr marL="342900" indent="-342900">
              <a:spcAft>
                <a:spcPts val="600"/>
              </a:spcAft>
              <a:buSzPct val="100000"/>
              <a:buChar char="•"/>
            </a:pPr>
            <a:r>
              <a:rPr lang="en-US" sz="1400" dirty="0">
                <a:solidFill>
                  <a:schemeClr val="tx1"/>
                </a:solidFill>
              </a:rPr>
              <a:t>Graphiques animés : assiduité de la semaine, élèves par niveau, remplacements, régimes, incidents</a:t>
            </a:r>
            <a:endParaRPr lang="en-US" sz="1400" dirty="0"/>
          </a:p>
          <a:p>
            <a:pPr marL="342900" indent="-342900">
              <a:spcAft>
                <a:spcPts val="600"/>
              </a:spcAft>
              <a:buSzPct val="100000"/>
              <a:buChar char="•"/>
            </a:pPr>
            <a:r>
              <a:rPr lang="en-US" sz="1400" dirty="0">
                <a:solidFill>
                  <a:schemeClr val="tx1"/>
                </a:solidFill>
              </a:rPr>
              <a:t>Alertes du jour et accès rapide à chaque rubrique</a:t>
            </a:r>
            <a:endParaRPr lang="en-US" sz="1400" dirty="0"/>
          </a:p>
          <a:p>
            <a:pPr marL="342900" indent="-342900">
              <a:spcAft>
                <a:spcPts val="600"/>
              </a:spcAft>
              <a:buSzPct val="100000"/>
              <a:buChar char="•"/>
            </a:pPr>
            <a:r>
              <a:rPr lang="en-US" sz="1400" dirty="0">
                <a:solidFill>
                  <a:schemeClr val="tx1"/>
                </a:solidFill>
              </a:rPr>
              <a:t>Menu latéral repliable, adapté au rôle</a:t>
            </a:r>
            <a:endParaRPr lang="en-US" sz="1400" dirty="0"/>
          </a:p>
        </p:txBody>
      </p:sp>
      <p:sp>
        <p:nvSpPr>
          <p:cNvPr id="4" name="Cadre Tableau de bord avec tuiles colorées et graphiques"/>
          <p:cNvSpPr/>
          <p:nvPr/>
        </p:nvSpPr>
        <p:spPr>
          <a:xfrm>
            <a:off x="3950208" y="1060704"/>
            <a:ext cx="3584448" cy="3730752"/>
          </a:xfrm>
          <a:prstGeom prst="rect">
            <a:avLst/>
          </a:prstGeom>
          <a:solidFill>
            <a:srgbClr val="FFFFFF"/>
          </a:solidFill>
          <a:ln w="9525">
            <a:solidFill>
              <a:srgbClr val="C9D3CD"/>
            </a:solidFill>
            <a:prstDash val="solid"/>
          </a:ln>
          <a:effectLst>
            <a:outerShdw sx="100000" sy="100000" kx="0" ky="0" algn="bl" rotWithShape="0" blurRad="101600" dist="25400" dir="5400000">
              <a:srgbClr val="000000">
                <a:alpha val="18000"/>
              </a:srgbClr>
            </a:outerShdw>
          </a:effectLst>
        </p:spPr>
      </p:sp>
      <p:pic>
        <p:nvPicPr>
          <p:cNvPr id="5" name="Image 0" descr="Tableau de bord avec tuiles colorées et graphiques">    </p:cNvPr>
          <p:cNvPicPr>
            <a:picLocks noChangeAspect="1"/>
          </p:cNvPicPr>
          <p:nvPr/>
        </p:nvPicPr>
        <p:blipFill>
          <a:blip r:embed="rId1"/>
          <a:stretch>
            <a:fillRect/>
          </a:stretch>
        </p:blipFill>
        <p:spPr>
          <a:xfrm>
            <a:off x="3986784" y="1097280"/>
            <a:ext cx="3511296" cy="3657600"/>
          </a:xfrm>
          <a:prstGeom prst="rect">
            <a:avLst/>
          </a:prstGeom>
        </p:spPr>
      </p:pic>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Fiches élèves complètes et filtres</a:t>
            </a:r>
            <a:endParaRPr lang="en-US" sz="2800" dirty="0"/>
          </a:p>
        </p:txBody>
      </p:sp>
      <p:sp>
        <p:nvSpPr>
          <p:cNvPr id="3" name="Texte"/>
          <p:cNvSpPr txBox="1"/>
          <p:nvPr/>
        </p:nvSpPr>
        <p:spPr>
          <a:xfrm>
            <a:off x="457200" y="1188720"/>
            <a:ext cx="3108960" cy="3383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Adresse, code postal, ville, téléphone, régime (externe, demi-pensionnaire, pensionnaire)</a:t>
            </a:r>
            <a:endParaRPr lang="en-US" sz="1400" dirty="0"/>
          </a:p>
          <a:p>
            <a:pPr marL="342900" indent="-342900">
              <a:spcAft>
                <a:spcPts val="600"/>
              </a:spcAft>
              <a:buSzPct val="100000"/>
              <a:buChar char="•"/>
            </a:pPr>
            <a:r>
              <a:rPr lang="en-US" sz="1400" dirty="0">
                <a:solidFill>
                  <a:schemeClr val="tx1"/>
                </a:solidFill>
              </a:rPr>
              <a:t>Une couleur par niveau, filtres par niveau, classe, régime et groupe</a:t>
            </a:r>
            <a:endParaRPr lang="en-US" sz="1400" dirty="0"/>
          </a:p>
          <a:p>
            <a:pPr marL="342900" indent="-342900">
              <a:spcAft>
                <a:spcPts val="600"/>
              </a:spcAft>
              <a:buSzPct val="100000"/>
              <a:buChar char="•"/>
            </a:pPr>
            <a:r>
              <a:rPr lang="en-US" sz="1400" dirty="0">
                <a:solidFill>
                  <a:schemeClr val="tx1"/>
                </a:solidFill>
              </a:rPr>
              <a:t>Exports Excel ou ZIP par niveau, classe ou groupe, avec choix des colonnes</a:t>
            </a:r>
            <a:endParaRPr lang="en-US" sz="1400" dirty="0"/>
          </a:p>
          <a:p>
            <a:pPr marL="342900" indent="-342900">
              <a:spcAft>
                <a:spcPts val="600"/>
              </a:spcAft>
              <a:buSzPct val="100000"/>
              <a:buChar char="•"/>
            </a:pPr>
            <a:r>
              <a:rPr lang="en-US" sz="1400" dirty="0">
                <a:solidFill>
                  <a:schemeClr val="tx1"/>
                </a:solidFill>
              </a:rPr>
              <a:t>Import CSV avec mise à jour des fiches existantes</a:t>
            </a:r>
            <a:endParaRPr lang="en-US" sz="1400" dirty="0"/>
          </a:p>
        </p:txBody>
      </p:sp>
      <p:sp>
        <p:nvSpPr>
          <p:cNvPr id="4" name="Cadre Liste des élèves avec couleurs par niveau et filtres"/>
          <p:cNvSpPr/>
          <p:nvPr/>
        </p:nvSpPr>
        <p:spPr>
          <a:xfrm>
            <a:off x="3803904" y="1060704"/>
            <a:ext cx="4919472" cy="3102102"/>
          </a:xfrm>
          <a:prstGeom prst="rect">
            <a:avLst/>
          </a:prstGeom>
          <a:solidFill>
            <a:srgbClr val="FFFFFF"/>
          </a:solidFill>
          <a:ln w="9525">
            <a:solidFill>
              <a:srgbClr val="C9D3CD"/>
            </a:solidFill>
            <a:prstDash val="solid"/>
          </a:ln>
          <a:effectLst>
            <a:outerShdw sx="100000" sy="100000" kx="0" ky="0" algn="bl" rotWithShape="0" blurRad="101600" dist="25400" dir="5400000">
              <a:srgbClr val="000000">
                <a:alpha val="18000"/>
              </a:srgbClr>
            </a:outerShdw>
          </a:effectLst>
        </p:spPr>
      </p:sp>
      <p:pic>
        <p:nvPicPr>
          <p:cNvPr id="5" name="Image 0" descr="Liste des élèves avec couleurs par niveau et filtres">    </p:cNvPr>
          <p:cNvPicPr>
            <a:picLocks noChangeAspect="1"/>
          </p:cNvPicPr>
          <p:nvPr/>
        </p:nvPicPr>
        <p:blipFill>
          <a:blip r:embed="rId1"/>
          <a:stretch>
            <a:fillRect/>
          </a:stretch>
        </p:blipFill>
        <p:spPr>
          <a:xfrm>
            <a:off x="3840480" y="1097280"/>
            <a:ext cx="4846320" cy="3028950"/>
          </a:xfrm>
          <a:prstGeom prst="rect">
            <a:avLst/>
          </a:prstGeom>
        </p:spPr>
      </p:pic>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Compléter les fiches comme dans un tableur</a:t>
            </a:r>
            <a:endParaRPr lang="en-US" sz="2800" dirty="0"/>
          </a:p>
        </p:txBody>
      </p:sp>
      <p:sp>
        <p:nvSpPr>
          <p:cNvPr id="3" name="Texte"/>
          <p:cNvSpPr txBox="1"/>
          <p:nvPr/>
        </p:nvSpPr>
        <p:spPr>
          <a:xfrm>
            <a:off x="457200" y="1188720"/>
            <a:ext cx="3108960" cy="3383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Un tableau par classe : date de naissance, sexe, adresse, téléphone, e-mail</a:t>
            </a:r>
            <a:endParaRPr lang="en-US" sz="1400" dirty="0"/>
          </a:p>
          <a:p>
            <a:pPr marL="342900" indent="-342900">
              <a:spcAft>
                <a:spcPts val="600"/>
              </a:spcAft>
              <a:buSzPct val="100000"/>
              <a:buChar char="•"/>
            </a:pPr>
            <a:r>
              <a:rPr lang="en-US" sz="1400" dirty="0">
                <a:solidFill>
                  <a:schemeClr val="tx1"/>
                </a:solidFill>
              </a:rPr>
              <a:t>Modification de plusieurs élèves en une seule fois</a:t>
            </a:r>
            <a:endParaRPr lang="en-US" sz="1400" dirty="0"/>
          </a:p>
          <a:p>
            <a:pPr marL="342900" indent="-342900">
              <a:spcAft>
                <a:spcPts val="600"/>
              </a:spcAft>
              <a:buSzPct val="100000"/>
              <a:buChar char="•"/>
            </a:pPr>
            <a:r>
              <a:rPr lang="en-US" sz="1400" dirty="0">
                <a:solidFill>
                  <a:schemeClr val="tx1"/>
                </a:solidFill>
              </a:rPr>
              <a:t>Gain de temps à la rentrée</a:t>
            </a:r>
            <a:endParaRPr lang="en-US" sz="1400" dirty="0"/>
          </a:p>
          <a:p>
            <a:pPr marL="342900" indent="-342900">
              <a:spcAft>
                <a:spcPts val="600"/>
              </a:spcAft>
              <a:buSzPct val="100000"/>
              <a:buChar char="•"/>
            </a:pPr>
            <a:r>
              <a:rPr lang="en-US" sz="1400" dirty="0">
                <a:solidFill>
                  <a:schemeClr val="tx1"/>
                </a:solidFill>
              </a:rPr>
              <a:t>Données reprises partout : fiches, exports, documents</a:t>
            </a:r>
            <a:endParaRPr lang="en-US" sz="1400" dirty="0"/>
          </a:p>
        </p:txBody>
      </p:sp>
      <p:sp>
        <p:nvSpPr>
          <p:cNvPr id="4" name="Cadre Saisie rapide des fiches élèves d'une classe"/>
          <p:cNvSpPr/>
          <p:nvPr/>
        </p:nvSpPr>
        <p:spPr>
          <a:xfrm>
            <a:off x="3803904" y="1060704"/>
            <a:ext cx="4919472" cy="3102102"/>
          </a:xfrm>
          <a:prstGeom prst="rect">
            <a:avLst/>
          </a:prstGeom>
          <a:solidFill>
            <a:srgbClr val="FFFFFF"/>
          </a:solidFill>
          <a:ln w="9525">
            <a:solidFill>
              <a:srgbClr val="C9D3CD"/>
            </a:solidFill>
            <a:prstDash val="solid"/>
          </a:ln>
          <a:effectLst>
            <a:outerShdw sx="100000" sy="100000" kx="0" ky="0" algn="bl" rotWithShape="0" blurRad="101600" dist="25400" dir="5400000">
              <a:srgbClr val="000000">
                <a:alpha val="18000"/>
              </a:srgbClr>
            </a:outerShdw>
          </a:effectLst>
        </p:spPr>
      </p:sp>
      <p:pic>
        <p:nvPicPr>
          <p:cNvPr id="5" name="Image 0" descr="Saisie rapide des fiches élèves d'une classe">    </p:cNvPr>
          <p:cNvPicPr>
            <a:picLocks noChangeAspect="1"/>
          </p:cNvPicPr>
          <p:nvPr/>
        </p:nvPicPr>
        <p:blipFill>
          <a:blip r:embed="rId1"/>
          <a:stretch>
            <a:fillRect/>
          </a:stretch>
        </p:blipFill>
        <p:spPr>
          <a:xfrm>
            <a:off x="3840480" y="1097280"/>
            <a:ext cx="4846320" cy="3028950"/>
          </a:xfrm>
          <a:prstGeom prst="rect">
            <a:avLst/>
          </a:prstGeom>
        </p:spPr>
      </p:pic>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Classes et groupes d'élèves, repérés par la couleur</a:t>
            </a:r>
            <a:endParaRPr lang="en-US" sz="2800" dirty="0"/>
          </a:p>
        </p:txBody>
      </p:sp>
      <p:sp>
        <p:nvSpPr>
          <p:cNvPr id="3" name="Texte"/>
          <p:cNvSpPr txBox="1"/>
          <p:nvPr/>
        </p:nvSpPr>
        <p:spPr>
          <a:xfrm>
            <a:off x="457200" y="1188720"/>
            <a:ext cx="3108960" cy="3383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Cartes de classes colorées par niveau, renommables et supprimables</a:t>
            </a:r>
            <a:endParaRPr lang="en-US" sz="1400" dirty="0"/>
          </a:p>
          <a:p>
            <a:pPr marL="342900" indent="-342900">
              <a:spcAft>
                <a:spcPts val="600"/>
              </a:spcAft>
              <a:buSzPct val="100000"/>
              <a:buChar char="•"/>
            </a:pPr>
            <a:r>
              <a:rPr lang="en-US" sz="1400" dirty="0">
                <a:solidFill>
                  <a:schemeClr val="tx1"/>
                </a:solidFill>
              </a:rPr>
              <a:t>Nombre de classes par niveau réglable</a:t>
            </a:r>
            <a:endParaRPr lang="en-US" sz="1400" dirty="0"/>
          </a:p>
          <a:p>
            <a:pPr marL="342900" indent="-342900">
              <a:spcAft>
                <a:spcPts val="600"/>
              </a:spcAft>
              <a:buSzPct val="100000"/>
              <a:buChar char="•"/>
            </a:pPr>
            <a:r>
              <a:rPr lang="en-US" sz="1400" dirty="0">
                <a:solidFill>
                  <a:schemeClr val="tx1"/>
                </a:solidFill>
              </a:rPr>
              <a:t>Groupes libres (LV2, atelier, aide aux devoirs…) avec une couleur chacun</a:t>
            </a:r>
            <a:endParaRPr lang="en-US" sz="1400" dirty="0"/>
          </a:p>
          <a:p>
            <a:pPr marL="342900" indent="-342900">
              <a:spcAft>
                <a:spcPts val="600"/>
              </a:spcAft>
              <a:buSzPct val="100000"/>
              <a:buChar char="•"/>
            </a:pPr>
            <a:r>
              <a:rPr lang="en-US" sz="1400" dirty="0">
                <a:solidFill>
                  <a:schemeClr val="tx1"/>
                </a:solidFill>
              </a:rPr>
              <a:t>Étiquettes colorées dans la liste des élèves</a:t>
            </a:r>
            <a:endParaRPr lang="en-US" sz="1400" dirty="0"/>
          </a:p>
        </p:txBody>
      </p:sp>
      <p:sp>
        <p:nvSpPr>
          <p:cNvPr id="4" name="Cadre Classes et niveaux en cartes colorées"/>
          <p:cNvSpPr/>
          <p:nvPr/>
        </p:nvSpPr>
        <p:spPr>
          <a:xfrm>
            <a:off x="5065776" y="1060704"/>
            <a:ext cx="3657600" cy="2313432"/>
          </a:xfrm>
          <a:prstGeom prst="rect">
            <a:avLst/>
          </a:prstGeom>
          <a:solidFill>
            <a:srgbClr val="FFFFFF"/>
          </a:solidFill>
          <a:ln w="9525">
            <a:solidFill>
              <a:srgbClr val="C9D3CD"/>
            </a:solidFill>
            <a:prstDash val="solid"/>
          </a:ln>
          <a:effectLst>
            <a:outerShdw sx="100000" sy="100000" kx="0" ky="0" algn="bl" rotWithShape="0" blurRad="101600" dist="25400" dir="5400000">
              <a:srgbClr val="000000">
                <a:alpha val="18000"/>
              </a:srgbClr>
            </a:outerShdw>
          </a:effectLst>
        </p:spPr>
      </p:sp>
      <p:pic>
        <p:nvPicPr>
          <p:cNvPr id="5" name="Image 0" descr="Classes et niveaux en cartes colorées">    </p:cNvPr>
          <p:cNvPicPr>
            <a:picLocks noChangeAspect="1"/>
          </p:cNvPicPr>
          <p:nvPr/>
        </p:nvPicPr>
        <p:blipFill>
          <a:blip r:embed="rId1"/>
          <a:stretch>
            <a:fillRect/>
          </a:stretch>
        </p:blipFill>
        <p:spPr>
          <a:xfrm>
            <a:off x="5102352" y="1097280"/>
            <a:ext cx="3584448" cy="2240280"/>
          </a:xfrm>
          <a:prstGeom prst="rect">
            <a:avLst/>
          </a:prstGeom>
        </p:spPr>
      </p:pic>
      <p:sp>
        <p:nvSpPr>
          <p:cNvPr id="6" name="Cadre Groupes d'élèves colorés"/>
          <p:cNvSpPr/>
          <p:nvPr/>
        </p:nvSpPr>
        <p:spPr>
          <a:xfrm>
            <a:off x="6748272" y="3438144"/>
            <a:ext cx="1975104" cy="1261872"/>
          </a:xfrm>
          <a:prstGeom prst="rect">
            <a:avLst/>
          </a:prstGeom>
          <a:solidFill>
            <a:srgbClr val="FFFFFF"/>
          </a:solidFill>
          <a:ln w="9525">
            <a:solidFill>
              <a:srgbClr val="C9D3CD"/>
            </a:solidFill>
            <a:prstDash val="solid"/>
          </a:ln>
          <a:effectLst>
            <a:outerShdw sx="100000" sy="100000" kx="0" ky="0" algn="bl" rotWithShape="0" blurRad="101600" dist="25400" dir="5400000">
              <a:srgbClr val="000000">
                <a:alpha val="18000"/>
              </a:srgbClr>
            </a:outerShdw>
          </a:effectLst>
        </p:spPr>
      </p:sp>
      <p:pic>
        <p:nvPicPr>
          <p:cNvPr id="7" name="Image 1" descr="Groupes d'élèves colorés">    </p:cNvPr>
          <p:cNvPicPr>
            <a:picLocks noChangeAspect="1"/>
          </p:cNvPicPr>
          <p:nvPr/>
        </p:nvPicPr>
        <p:blipFill>
          <a:blip r:embed="rId2"/>
          <a:stretch>
            <a:fillRect/>
          </a:stretch>
        </p:blipFill>
        <p:spPr>
          <a:xfrm>
            <a:off x="6784848" y="3474720"/>
            <a:ext cx="1901952" cy="1188720"/>
          </a:xfrm>
          <a:prstGeom prst="rect">
            <a:avLst/>
          </a:prstGeom>
        </p:spPr>
      </p:pic>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Absences et indisponibilités des professeurs</a:t>
            </a:r>
            <a:endParaRPr lang="en-US" sz="2800" dirty="0"/>
          </a:p>
        </p:txBody>
      </p:sp>
      <p:sp>
        <p:nvSpPr>
          <p:cNvPr id="3" name="Texte"/>
          <p:cNvSpPr txBox="1"/>
          <p:nvPr/>
        </p:nvSpPr>
        <p:spPr>
          <a:xfrm>
            <a:off x="457200" y="1188720"/>
            <a:ext cx="3108960" cy="3383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Déclaration en quelques clics : professeur, dates, motif</a:t>
            </a:r>
            <a:endParaRPr lang="en-US" sz="1400" dirty="0"/>
          </a:p>
          <a:p>
            <a:pPr marL="342900" indent="-342900">
              <a:spcAft>
                <a:spcPts val="600"/>
              </a:spcAft>
              <a:buSzPct val="100000"/>
              <a:buChar char="•"/>
            </a:pPr>
            <a:r>
              <a:rPr lang="en-US" sz="1400" dirty="0">
                <a:solidFill>
                  <a:schemeClr val="tx1"/>
                </a:solidFill>
              </a:rPr>
              <a:t>Motif choisi dans une liste, avec saisie libre</a:t>
            </a:r>
            <a:endParaRPr lang="en-US" sz="1400" dirty="0"/>
          </a:p>
          <a:p>
            <a:pPr marL="342900" indent="-342900">
              <a:spcAft>
                <a:spcPts val="600"/>
              </a:spcAft>
              <a:buSzPct val="100000"/>
              <a:buChar char="•"/>
            </a:pPr>
            <a:r>
              <a:rPr lang="en-US" sz="1400" dirty="0">
                <a:solidFill>
                  <a:schemeClr val="tx1"/>
                </a:solidFill>
              </a:rPr>
              <a:t>Les cours à remplacer sont créés automatiquement</a:t>
            </a:r>
            <a:endParaRPr lang="en-US" sz="1400" dirty="0"/>
          </a:p>
          <a:p>
            <a:pPr marL="342900" indent="-342900">
              <a:spcAft>
                <a:spcPts val="600"/>
              </a:spcAft>
              <a:buSzPct val="100000"/>
              <a:buChar char="•"/>
            </a:pPr>
            <a:r>
              <a:rPr lang="en-US" sz="1400" dirty="0">
                <a:solidFill>
                  <a:schemeClr val="tx1"/>
                </a:solidFill>
              </a:rPr>
              <a:t>États jour, semaine et mois imprimables</a:t>
            </a:r>
            <a:endParaRPr lang="en-US" sz="1400" dirty="0"/>
          </a:p>
        </p:txBody>
      </p:sp>
      <p:sp>
        <p:nvSpPr>
          <p:cNvPr id="4" name="Cadre Liste des absences et indisponibilités"/>
          <p:cNvSpPr/>
          <p:nvPr/>
        </p:nvSpPr>
        <p:spPr>
          <a:xfrm>
            <a:off x="3803904" y="1060704"/>
            <a:ext cx="4919472" cy="3102102"/>
          </a:xfrm>
          <a:prstGeom prst="rect">
            <a:avLst/>
          </a:prstGeom>
          <a:solidFill>
            <a:srgbClr val="FFFFFF"/>
          </a:solidFill>
          <a:ln w="9525">
            <a:solidFill>
              <a:srgbClr val="C9D3CD"/>
            </a:solidFill>
            <a:prstDash val="solid"/>
          </a:ln>
          <a:effectLst>
            <a:outerShdw sx="100000" sy="100000" kx="0" ky="0" algn="bl" rotWithShape="0" blurRad="101600" dist="25400" dir="5400000">
              <a:srgbClr val="000000">
                <a:alpha val="18000"/>
              </a:srgbClr>
            </a:outerShdw>
          </a:effectLst>
        </p:spPr>
      </p:sp>
      <p:pic>
        <p:nvPicPr>
          <p:cNvPr id="5" name="Image 0" descr="Liste des absences et indisponibilités">    </p:cNvPr>
          <p:cNvPicPr>
            <a:picLocks noChangeAspect="1"/>
          </p:cNvPicPr>
          <p:nvPr/>
        </p:nvPicPr>
        <p:blipFill>
          <a:blip r:embed="rId1"/>
          <a:stretch>
            <a:fillRect/>
          </a:stretch>
        </p:blipFill>
        <p:spPr>
          <a:xfrm>
            <a:off x="3840480" y="1097280"/>
            <a:ext cx="4846320" cy="3028950"/>
          </a:xfrm>
          <a:prstGeom prst="rect">
            <a:avLst/>
          </a:prstGeom>
        </p:spPr>
      </p:pic>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Remplacements : le bon professeur, au bon créneau</a:t>
            </a:r>
            <a:endParaRPr lang="en-US" sz="2800" dirty="0"/>
          </a:p>
        </p:txBody>
      </p:sp>
      <p:sp>
        <p:nvSpPr>
          <p:cNvPr id="3" name="Texte"/>
          <p:cNvSpPr txBox="1"/>
          <p:nvPr/>
        </p:nvSpPr>
        <p:spPr>
          <a:xfrm>
            <a:off x="457200" y="1188720"/>
            <a:ext cx="3108960" cy="3383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Professeurs libres proposés, même matière d'abord</a:t>
            </a:r>
            <a:endParaRPr lang="en-US" sz="1400" dirty="0"/>
          </a:p>
          <a:p>
            <a:pPr marL="342900" indent="-342900">
              <a:spcAft>
                <a:spcPts val="600"/>
              </a:spcAft>
              <a:buSzPct val="100000"/>
              <a:buChar char="•"/>
            </a:pPr>
            <a:r>
              <a:rPr lang="en-US" sz="1400" dirty="0">
                <a:solidFill>
                  <a:schemeClr val="tx1"/>
                </a:solidFill>
              </a:rPr>
              <a:t>Conflit signalé et refusé, sauf décision explicite</a:t>
            </a:r>
            <a:endParaRPr lang="en-US" sz="1400" dirty="0"/>
          </a:p>
          <a:p>
            <a:pPr marL="342900" indent="-342900">
              <a:spcAft>
                <a:spcPts val="600"/>
              </a:spcAft>
              <a:buSzPct val="100000"/>
              <a:buChar char="•"/>
            </a:pPr>
            <a:r>
              <a:rPr lang="en-US" sz="1400" dirty="0">
                <a:solidFill>
                  <a:schemeClr val="tx1"/>
                </a:solidFill>
              </a:rPr>
              <a:t>Pourvoi automatique en un clic, remplaçants prévenus</a:t>
            </a:r>
            <a:endParaRPr lang="en-US" sz="1400" dirty="0"/>
          </a:p>
          <a:p>
            <a:pPr marL="342900" indent="-342900">
              <a:spcAft>
                <a:spcPts val="600"/>
              </a:spcAft>
              <a:buSzPct val="100000"/>
              <a:buChar char="•"/>
            </a:pPr>
            <a:r>
              <a:rPr lang="en-US" sz="1400" dirty="0">
                <a:solidFill>
                  <a:schemeClr val="tx1"/>
                </a:solidFill>
              </a:rPr>
              <a:t>Suivi : pourvus, à pourvoir, annulés</a:t>
            </a:r>
            <a:endParaRPr lang="en-US" sz="1400" dirty="0"/>
          </a:p>
        </p:txBody>
      </p:sp>
      <p:sp>
        <p:nvSpPr>
          <p:cNvPr id="4" name="Cadre Organisation des remplacements"/>
          <p:cNvSpPr/>
          <p:nvPr/>
        </p:nvSpPr>
        <p:spPr>
          <a:xfrm>
            <a:off x="3803904" y="1060704"/>
            <a:ext cx="4919472" cy="3102102"/>
          </a:xfrm>
          <a:prstGeom prst="rect">
            <a:avLst/>
          </a:prstGeom>
          <a:solidFill>
            <a:srgbClr val="FFFFFF"/>
          </a:solidFill>
          <a:ln w="9525">
            <a:solidFill>
              <a:srgbClr val="C9D3CD"/>
            </a:solidFill>
            <a:prstDash val="solid"/>
          </a:ln>
          <a:effectLst>
            <a:outerShdw sx="100000" sy="100000" kx="0" ky="0" algn="bl" rotWithShape="0" blurRad="101600" dist="25400" dir="5400000">
              <a:srgbClr val="000000">
                <a:alpha val="18000"/>
              </a:srgbClr>
            </a:outerShdw>
          </a:effectLst>
        </p:spPr>
      </p:sp>
      <p:pic>
        <p:nvPicPr>
          <p:cNvPr id="5" name="Image 0" descr="Organisation des remplacements">    </p:cNvPr>
          <p:cNvPicPr>
            <a:picLocks noChangeAspect="1"/>
          </p:cNvPicPr>
          <p:nvPr/>
        </p:nvPicPr>
        <p:blipFill>
          <a:blip r:embed="rId1"/>
          <a:stretch>
            <a:fillRect/>
          </a:stretch>
        </p:blipFill>
        <p:spPr>
          <a:xfrm>
            <a:off x="3840480" y="1097280"/>
            <a:ext cx="4846320" cy="3028950"/>
          </a:xfrm>
          <a:prstGeom prst="rect">
            <a:avLst/>
          </a:prstGeom>
        </p:spPr>
      </p:pic>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Assiduité des élèves : l'appel en quelques clics</a:t>
            </a:r>
            <a:endParaRPr lang="en-US" sz="2800" dirty="0"/>
          </a:p>
        </p:txBody>
      </p:sp>
      <p:sp>
        <p:nvSpPr>
          <p:cNvPr id="3" name="Texte"/>
          <p:cNvSpPr txBox="1"/>
          <p:nvPr/>
        </p:nvSpPr>
        <p:spPr>
          <a:xfrm>
            <a:off x="457200" y="1188720"/>
            <a:ext cx="3108960" cy="3383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Appel par créneau de cours ou par demi-journée</a:t>
            </a:r>
            <a:endParaRPr lang="en-US" sz="1400" dirty="0"/>
          </a:p>
          <a:p>
            <a:pPr marL="342900" indent="-342900">
              <a:spcAft>
                <a:spcPts val="600"/>
              </a:spcAft>
              <a:buSzPct val="100000"/>
              <a:buChar char="•"/>
            </a:pPr>
            <a:r>
              <a:rPr lang="en-US" sz="1400" dirty="0">
                <a:solidFill>
                  <a:schemeClr val="tx1"/>
                </a:solidFill>
              </a:rPr>
              <a:t>Présent, absent, retard, en un clic</a:t>
            </a:r>
            <a:endParaRPr lang="en-US" sz="1400" dirty="0"/>
          </a:p>
          <a:p>
            <a:pPr marL="342900" indent="-342900">
              <a:spcAft>
                <a:spcPts val="600"/>
              </a:spcAft>
              <a:buSzPct val="100000"/>
              <a:buChar char="•"/>
            </a:pPr>
            <a:r>
              <a:rPr lang="en-US" sz="1400" dirty="0">
                <a:solidFill>
                  <a:schemeClr val="tx1"/>
                </a:solidFill>
              </a:rPr>
              <a:t>Un enseignant ne fait l'appel que de ses classes</a:t>
            </a:r>
            <a:endParaRPr lang="en-US" sz="1400" dirty="0"/>
          </a:p>
          <a:p>
            <a:pPr marL="342900" indent="-342900">
              <a:spcAft>
                <a:spcPts val="600"/>
              </a:spcAft>
              <a:buSzPct val="100000"/>
              <a:buChar char="•"/>
            </a:pPr>
            <a:r>
              <a:rPr lang="en-US" sz="1400" dirty="0">
                <a:solidFill>
                  <a:schemeClr val="tx1"/>
                </a:solidFill>
              </a:rPr>
              <a:t>Justifications en lot : justifiée, non justifiée, en attente</a:t>
            </a:r>
            <a:endParaRPr lang="en-US" sz="1400" dirty="0"/>
          </a:p>
        </p:txBody>
      </p:sp>
      <p:sp>
        <p:nvSpPr>
          <p:cNvPr id="4" name="Cadre Écran d'appel d'une classe"/>
          <p:cNvSpPr/>
          <p:nvPr/>
        </p:nvSpPr>
        <p:spPr>
          <a:xfrm>
            <a:off x="3803904" y="1060704"/>
            <a:ext cx="4919472" cy="3102102"/>
          </a:xfrm>
          <a:prstGeom prst="rect">
            <a:avLst/>
          </a:prstGeom>
          <a:solidFill>
            <a:srgbClr val="FFFFFF"/>
          </a:solidFill>
          <a:ln w="9525">
            <a:solidFill>
              <a:srgbClr val="C9D3CD"/>
            </a:solidFill>
            <a:prstDash val="solid"/>
          </a:ln>
          <a:effectLst>
            <a:outerShdw sx="100000" sy="100000" kx="0" ky="0" algn="bl" rotWithShape="0" blurRad="101600" dist="25400" dir="5400000">
              <a:srgbClr val="000000">
                <a:alpha val="18000"/>
              </a:srgbClr>
            </a:outerShdw>
          </a:effectLst>
        </p:spPr>
      </p:sp>
      <p:pic>
        <p:nvPicPr>
          <p:cNvPr id="5" name="Image 0" descr="Écran d'appel d'une classe">    </p:cNvPr>
          <p:cNvPicPr>
            <a:picLocks noChangeAspect="1"/>
          </p:cNvPicPr>
          <p:nvPr/>
        </p:nvPicPr>
        <p:blipFill>
          <a:blip r:embed="rId1"/>
          <a:stretch>
            <a:fillRect/>
          </a:stretch>
        </p:blipFill>
        <p:spPr>
          <a:xfrm>
            <a:off x="3840480" y="1097280"/>
            <a:ext cx="4846320" cy="3028950"/>
          </a:xfrm>
          <a:prstGeom prst="rect">
            <a:avLst/>
          </a:prstGeom>
        </p:spPr>
      </p:pic>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États des absences : jour, semaine, mois</a:t>
            </a:r>
            <a:endParaRPr lang="en-US" sz="2800" dirty="0"/>
          </a:p>
        </p:txBody>
      </p:sp>
      <p:sp>
        <p:nvSpPr>
          <p:cNvPr id="3" name="Texte"/>
          <p:cNvSpPr txBox="1"/>
          <p:nvPr/>
        </p:nvSpPr>
        <p:spPr>
          <a:xfrm>
            <a:off x="457200" y="1188720"/>
            <a:ext cx="3108960" cy="3383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État journalier, hebdomadaire et mensuel</a:t>
            </a:r>
            <a:endParaRPr lang="en-US" sz="1400" dirty="0"/>
          </a:p>
          <a:p>
            <a:pPr marL="342900" indent="-342900">
              <a:spcAft>
                <a:spcPts val="600"/>
              </a:spcAft>
              <a:buSzPct val="100000"/>
              <a:buChar char="•"/>
            </a:pPr>
            <a:r>
              <a:rPr lang="en-US" sz="1400" dirty="0">
                <a:solidFill>
                  <a:schemeClr val="tx1"/>
                </a:solidFill>
              </a:rPr>
              <a:t>Taux d'absentéisme par classe et par élève</a:t>
            </a:r>
            <a:endParaRPr lang="en-US" sz="1400" dirty="0"/>
          </a:p>
          <a:p>
            <a:pPr marL="342900" indent="-342900">
              <a:spcAft>
                <a:spcPts val="600"/>
              </a:spcAft>
              <a:buSzPct val="100000"/>
              <a:buChar char="•"/>
            </a:pPr>
            <a:r>
              <a:rPr lang="en-US" sz="1400" dirty="0">
                <a:solidFill>
                  <a:schemeClr val="tx1"/>
                </a:solidFill>
              </a:rPr>
              <a:t>Même état pour les absences des professeurs</a:t>
            </a:r>
            <a:endParaRPr lang="en-US" sz="1400" dirty="0"/>
          </a:p>
          <a:p>
            <a:pPr marL="342900" indent="-342900">
              <a:spcAft>
                <a:spcPts val="600"/>
              </a:spcAft>
              <a:buSzPct val="100000"/>
              <a:buChar char="•"/>
            </a:pPr>
            <a:r>
              <a:rPr lang="en-US" sz="1400" dirty="0">
                <a:solidFill>
                  <a:schemeClr val="tx1"/>
                </a:solidFill>
              </a:rPr>
              <a:t>Impression et export Excel</a:t>
            </a:r>
            <a:endParaRPr lang="en-US" sz="1400" dirty="0"/>
          </a:p>
        </p:txBody>
      </p:sp>
      <p:sp>
        <p:nvSpPr>
          <p:cNvPr id="4" name="Cadre État journalier des absences des élèves"/>
          <p:cNvSpPr/>
          <p:nvPr/>
        </p:nvSpPr>
        <p:spPr>
          <a:xfrm>
            <a:off x="3803904" y="1060704"/>
            <a:ext cx="4919472" cy="3102102"/>
          </a:xfrm>
          <a:prstGeom prst="rect">
            <a:avLst/>
          </a:prstGeom>
          <a:solidFill>
            <a:srgbClr val="FFFFFF"/>
          </a:solidFill>
          <a:ln w="9525">
            <a:solidFill>
              <a:srgbClr val="C9D3CD"/>
            </a:solidFill>
            <a:prstDash val="solid"/>
          </a:ln>
          <a:effectLst>
            <a:outerShdw sx="100000" sy="100000" kx="0" ky="0" algn="bl" rotWithShape="0" blurRad="101600" dist="25400" dir="5400000">
              <a:srgbClr val="000000">
                <a:alpha val="18000"/>
              </a:srgbClr>
            </a:outerShdw>
          </a:effectLst>
        </p:spPr>
      </p:sp>
      <p:pic>
        <p:nvPicPr>
          <p:cNvPr id="5" name="Image 0" descr="État journalier des absences des élèves">    </p:cNvPr>
          <p:cNvPicPr>
            <a:picLocks noChangeAspect="1"/>
          </p:cNvPicPr>
          <p:nvPr/>
        </p:nvPicPr>
        <p:blipFill>
          <a:blip r:embed="rId1"/>
          <a:stretch>
            <a:fillRect/>
          </a:stretch>
        </p:blipFill>
        <p:spPr>
          <a:xfrm>
            <a:off x="3840480" y="1097280"/>
            <a:ext cx="4846320" cy="3028950"/>
          </a:xfrm>
          <a:prstGeom prst="rect">
            <a:avLst/>
          </a:prstGeom>
        </p:spPr>
      </p:pic>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Notes, relevés et bulletins</a:t>
            </a:r>
            <a:endParaRPr lang="en-US" sz="2800" dirty="0"/>
          </a:p>
        </p:txBody>
      </p:sp>
      <p:sp>
        <p:nvSpPr>
          <p:cNvPr id="3" name="Texte"/>
          <p:cNvSpPr txBox="1"/>
          <p:nvPr/>
        </p:nvSpPr>
        <p:spPr>
          <a:xfrm>
            <a:off x="457200" y="1188720"/>
            <a:ext cx="3108960" cy="3383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Les professeurs saisissent les notes de leurs classes</a:t>
            </a:r>
            <a:endParaRPr lang="en-US" sz="1400" dirty="0"/>
          </a:p>
          <a:p>
            <a:pPr marL="342900" indent="-342900">
              <a:spcAft>
                <a:spcPts val="600"/>
              </a:spcAft>
              <a:buSzPct val="100000"/>
              <a:buChar char="•"/>
            </a:pPr>
            <a:r>
              <a:rPr lang="en-US" sz="1400" dirty="0">
                <a:solidFill>
                  <a:schemeClr val="tx1"/>
                </a:solidFill>
              </a:rPr>
              <a:t>La vie scolaire voit toutes les notes d'un élève</a:t>
            </a:r>
            <a:endParaRPr lang="en-US" sz="1400" dirty="0"/>
          </a:p>
          <a:p>
            <a:pPr marL="342900" indent="-342900">
              <a:spcAft>
                <a:spcPts val="600"/>
              </a:spcAft>
              <a:buSzPct val="100000"/>
              <a:buChar char="•"/>
            </a:pPr>
            <a:r>
              <a:rPr lang="en-US" sz="1400" dirty="0">
                <a:solidFill>
                  <a:schemeClr val="tx1"/>
                </a:solidFill>
              </a:rPr>
              <a:t>Moyennes, rang, appréciations</a:t>
            </a:r>
            <a:endParaRPr lang="en-US" sz="1400" dirty="0"/>
          </a:p>
          <a:p>
            <a:pPr marL="342900" indent="-342900">
              <a:spcAft>
                <a:spcPts val="600"/>
              </a:spcAft>
              <a:buSzPct val="100000"/>
              <a:buChar char="•"/>
            </a:pPr>
            <a:r>
              <a:rPr lang="en-US" sz="1400" dirty="0">
                <a:solidFill>
                  <a:schemeClr val="tx1"/>
                </a:solidFill>
              </a:rPr>
              <a:t>Relevé de notes, relevé à mi-parcours et bulletin imprimables, par élève ou par classe</a:t>
            </a:r>
            <a:endParaRPr lang="en-US" sz="1400" dirty="0"/>
          </a:p>
        </p:txBody>
      </p:sp>
      <p:sp>
        <p:nvSpPr>
          <p:cNvPr id="4" name="Cadre Saisie des notes"/>
          <p:cNvSpPr/>
          <p:nvPr/>
        </p:nvSpPr>
        <p:spPr>
          <a:xfrm>
            <a:off x="3803904" y="1060704"/>
            <a:ext cx="2816352" cy="1787652"/>
          </a:xfrm>
          <a:prstGeom prst="rect">
            <a:avLst/>
          </a:prstGeom>
          <a:solidFill>
            <a:srgbClr val="FFFFFF"/>
          </a:solidFill>
          <a:ln w="9525">
            <a:solidFill>
              <a:srgbClr val="C9D3CD"/>
            </a:solidFill>
            <a:prstDash val="solid"/>
          </a:ln>
          <a:effectLst>
            <a:outerShdw sx="100000" sy="100000" kx="0" ky="0" algn="bl" rotWithShape="0" blurRad="101600" dist="25400" dir="5400000">
              <a:srgbClr val="000000">
                <a:alpha val="18000"/>
              </a:srgbClr>
            </a:outerShdw>
          </a:effectLst>
        </p:spPr>
      </p:sp>
      <p:pic>
        <p:nvPicPr>
          <p:cNvPr id="5" name="Image 0" descr="Saisie des notes">    </p:cNvPr>
          <p:cNvPicPr>
            <a:picLocks noChangeAspect="1"/>
          </p:cNvPicPr>
          <p:nvPr/>
        </p:nvPicPr>
        <p:blipFill>
          <a:blip r:embed="rId1"/>
          <a:stretch>
            <a:fillRect/>
          </a:stretch>
        </p:blipFill>
        <p:spPr>
          <a:xfrm>
            <a:off x="3840480" y="1097280"/>
            <a:ext cx="2743200" cy="1714500"/>
          </a:xfrm>
          <a:prstGeom prst="rect">
            <a:avLst/>
          </a:prstGeom>
        </p:spPr>
      </p:pic>
      <p:sp>
        <p:nvSpPr>
          <p:cNvPr id="6" name="Cadre Bulletin d'un élève"/>
          <p:cNvSpPr/>
          <p:nvPr/>
        </p:nvSpPr>
        <p:spPr>
          <a:xfrm>
            <a:off x="6638544" y="1060704"/>
            <a:ext cx="2084832" cy="1330452"/>
          </a:xfrm>
          <a:prstGeom prst="rect">
            <a:avLst/>
          </a:prstGeom>
          <a:solidFill>
            <a:srgbClr val="FFFFFF"/>
          </a:solidFill>
          <a:ln w="9525">
            <a:solidFill>
              <a:srgbClr val="C9D3CD"/>
            </a:solidFill>
            <a:prstDash val="solid"/>
          </a:ln>
          <a:effectLst>
            <a:outerShdw sx="100000" sy="100000" kx="0" ky="0" algn="bl" rotWithShape="0" blurRad="101600" dist="25400" dir="5400000">
              <a:srgbClr val="000000">
                <a:alpha val="18000"/>
              </a:srgbClr>
            </a:outerShdw>
          </a:effectLst>
        </p:spPr>
      </p:sp>
      <p:pic>
        <p:nvPicPr>
          <p:cNvPr id="7" name="Image 1" descr="Bulletin d'un élève">    </p:cNvPr>
          <p:cNvPicPr>
            <a:picLocks noChangeAspect="1"/>
          </p:cNvPicPr>
          <p:nvPr/>
        </p:nvPicPr>
        <p:blipFill>
          <a:blip r:embed="rId2"/>
          <a:stretch>
            <a:fillRect/>
          </a:stretch>
        </p:blipFill>
        <p:spPr>
          <a:xfrm>
            <a:off x="6675120" y="1097280"/>
            <a:ext cx="2011680" cy="1257300"/>
          </a:xfrm>
          <a:prstGeom prst="rect">
            <a:avLst/>
          </a:prstGeom>
        </p:spPr>
      </p:pic>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Emplois du temps lisibles</a:t>
            </a:r>
            <a:endParaRPr lang="en-US" sz="2800" dirty="0"/>
          </a:p>
        </p:txBody>
      </p:sp>
      <p:sp>
        <p:nvSpPr>
          <p:cNvPr id="3" name="Texte"/>
          <p:cNvSpPr txBox="1"/>
          <p:nvPr/>
        </p:nvSpPr>
        <p:spPr>
          <a:xfrm>
            <a:off x="457200" y="1188720"/>
            <a:ext cx="3108960" cy="3383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Vues jour, semaine et mois, par professeur ou par classe</a:t>
            </a:r>
            <a:endParaRPr lang="en-US" sz="1400" dirty="0"/>
          </a:p>
          <a:p>
            <a:pPr marL="342900" indent="-342900">
              <a:spcAft>
                <a:spcPts val="600"/>
              </a:spcAft>
              <a:buSzPct val="100000"/>
              <a:buChar char="•"/>
            </a:pPr>
            <a:r>
              <a:rPr lang="en-US" sz="1400" dirty="0">
                <a:solidFill>
                  <a:schemeClr val="tx1"/>
                </a:solidFill>
              </a:rPr>
              <a:t>Une couleur par matière, légende affichée</a:t>
            </a:r>
            <a:endParaRPr lang="en-US" sz="1400" dirty="0"/>
          </a:p>
          <a:p>
            <a:pPr marL="342900" indent="-342900">
              <a:spcAft>
                <a:spcPts val="600"/>
              </a:spcAft>
              <a:buSzPct val="100000"/>
              <a:buChar char="•"/>
            </a:pPr>
            <a:r>
              <a:rPr lang="en-US" sz="1400" dirty="0">
                <a:solidFill>
                  <a:schemeClr val="tx1"/>
                </a:solidFill>
              </a:rPr>
              <a:t>États visibles : remplacé, à pourvoir, annulé</a:t>
            </a:r>
            <a:endParaRPr lang="en-US" sz="1400" dirty="0"/>
          </a:p>
          <a:p>
            <a:pPr marL="342900" indent="-342900">
              <a:spcAft>
                <a:spcPts val="600"/>
              </a:spcAft>
              <a:buSzPct val="100000"/>
              <a:buChar char="•"/>
            </a:pPr>
            <a:r>
              <a:rPr lang="en-US" sz="1400" dirty="0">
                <a:solidFill>
                  <a:schemeClr val="tx1"/>
                </a:solidFill>
              </a:rPr>
              <a:t>Impression PDF en un clic</a:t>
            </a:r>
            <a:endParaRPr lang="en-US" sz="1400" dirty="0"/>
          </a:p>
        </p:txBody>
      </p:sp>
      <p:sp>
        <p:nvSpPr>
          <p:cNvPr id="4" name="Cadre Emploi du temps de la classe 3A en semaine"/>
          <p:cNvSpPr/>
          <p:nvPr/>
        </p:nvSpPr>
        <p:spPr>
          <a:xfrm>
            <a:off x="3803904" y="1060704"/>
            <a:ext cx="4919472" cy="3102102"/>
          </a:xfrm>
          <a:prstGeom prst="rect">
            <a:avLst/>
          </a:prstGeom>
          <a:solidFill>
            <a:srgbClr val="FFFFFF"/>
          </a:solidFill>
          <a:ln w="9525">
            <a:solidFill>
              <a:srgbClr val="C9D3CD"/>
            </a:solidFill>
            <a:prstDash val="solid"/>
          </a:ln>
          <a:effectLst>
            <a:outerShdw sx="100000" sy="100000" kx="0" ky="0" algn="bl" rotWithShape="0" blurRad="101600" dist="25400" dir="5400000">
              <a:srgbClr val="000000">
                <a:alpha val="18000"/>
              </a:srgbClr>
            </a:outerShdw>
          </a:effectLst>
        </p:spPr>
      </p:sp>
      <p:pic>
        <p:nvPicPr>
          <p:cNvPr id="5" name="Image 0" descr="Emploi du temps de la classe 3A en semaine">    </p:cNvPr>
          <p:cNvPicPr>
            <a:picLocks noChangeAspect="1"/>
          </p:cNvPicPr>
          <p:nvPr/>
        </p:nvPicPr>
        <p:blipFill>
          <a:blip r:embed="rId1"/>
          <a:stretch>
            <a:fillRect/>
          </a:stretch>
        </p:blipFill>
        <p:spPr>
          <a:xfrm>
            <a:off x="3840480" y="1097280"/>
            <a:ext cx="4846320" cy="3028950"/>
          </a:xfrm>
          <a:prstGeom prst="rect">
            <a:avLst/>
          </a:prstGeom>
        </p:spPr>
      </p:pic>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Matières et heures par niveau</a:t>
            </a:r>
            <a:endParaRPr lang="en-US" sz="2800" dirty="0"/>
          </a:p>
        </p:txBody>
      </p:sp>
      <p:sp>
        <p:nvSpPr>
          <p:cNvPr id="3" name="Texte"/>
          <p:cNvSpPr txBox="1"/>
          <p:nvPr/>
        </p:nvSpPr>
        <p:spPr>
          <a:xfrm>
            <a:off x="457200" y="1188720"/>
            <a:ext cx="3108960" cy="3383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On ajoute une matière et ses heures pour chaque niveau</a:t>
            </a:r>
            <a:endParaRPr lang="en-US" sz="1400" dirty="0"/>
          </a:p>
          <a:p>
            <a:pPr marL="342900" indent="-342900">
              <a:spcAft>
                <a:spcPts val="600"/>
              </a:spcAft>
              <a:buSzPct val="100000"/>
              <a:buChar char="•"/>
            </a:pPr>
            <a:r>
              <a:rPr lang="en-US" sz="1400" dirty="0">
                <a:solidFill>
                  <a:schemeClr val="tx1"/>
                </a:solidFill>
              </a:rPr>
              <a:t>Les besoins de toutes les classes sont déduits</a:t>
            </a:r>
            <a:endParaRPr lang="en-US" sz="1400" dirty="0"/>
          </a:p>
          <a:p>
            <a:pPr marL="342900" indent="-342900">
              <a:spcAft>
                <a:spcPts val="600"/>
              </a:spcAft>
              <a:buSzPct val="100000"/>
              <a:buChar char="•"/>
            </a:pPr>
            <a:r>
              <a:rPr lang="en-US" sz="1400" dirty="0">
                <a:solidFill>
                  <a:schemeClr val="tx1"/>
                </a:solidFill>
              </a:rPr>
              <a:t>Choix d'un professeur par classe possible</a:t>
            </a:r>
            <a:endParaRPr lang="en-US" sz="1400" dirty="0"/>
          </a:p>
          <a:p>
            <a:pPr marL="342900" indent="-342900">
              <a:spcAft>
                <a:spcPts val="600"/>
              </a:spcAft>
              <a:buSzPct val="100000"/>
              <a:buChar char="•"/>
            </a:pPr>
            <a:r>
              <a:rPr lang="en-US" sz="1400" dirty="0">
                <a:solidFill>
                  <a:schemeClr val="tx1"/>
                </a:solidFill>
              </a:rPr>
              <a:t>Affectation selon la matière, la charge et les vœux</a:t>
            </a:r>
            <a:endParaRPr lang="en-US" sz="1400" dirty="0"/>
          </a:p>
        </p:txBody>
      </p:sp>
      <p:sp>
        <p:nvSpPr>
          <p:cNvPr id="4" name="Cadre Matières et heures par niveau"/>
          <p:cNvSpPr/>
          <p:nvPr/>
        </p:nvSpPr>
        <p:spPr>
          <a:xfrm>
            <a:off x="3803904" y="1060704"/>
            <a:ext cx="4919472" cy="3102102"/>
          </a:xfrm>
          <a:prstGeom prst="rect">
            <a:avLst/>
          </a:prstGeom>
          <a:solidFill>
            <a:srgbClr val="FFFFFF"/>
          </a:solidFill>
          <a:ln w="9525">
            <a:solidFill>
              <a:srgbClr val="C9D3CD"/>
            </a:solidFill>
            <a:prstDash val="solid"/>
          </a:ln>
          <a:effectLst>
            <a:outerShdw sx="100000" sy="100000" kx="0" ky="0" algn="bl" rotWithShape="0" blurRad="101600" dist="25400" dir="5400000">
              <a:srgbClr val="000000">
                <a:alpha val="18000"/>
              </a:srgbClr>
            </a:outerShdw>
          </a:effectLst>
        </p:spPr>
      </p:sp>
      <p:pic>
        <p:nvPicPr>
          <p:cNvPr id="5" name="Image 0" descr="Matières et heures par niveau">    </p:cNvPr>
          <p:cNvPicPr>
            <a:picLocks noChangeAspect="1"/>
          </p:cNvPicPr>
          <p:nvPr/>
        </p:nvPicPr>
        <p:blipFill>
          <a:blip r:embed="rId1"/>
          <a:stretch>
            <a:fillRect/>
          </a:stretch>
        </p:blipFill>
        <p:spPr>
          <a:xfrm>
            <a:off x="3840480" y="1097280"/>
            <a:ext cx="4846320" cy="3028950"/>
          </a:xfrm>
          <a:prstGeom prst="rect">
            <a:avLst/>
          </a:prstGeom>
        </p:spPr>
      </p:pic>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Génération automatique, trous mis en évidence</a:t>
            </a:r>
            <a:endParaRPr lang="en-US" sz="2800" dirty="0"/>
          </a:p>
        </p:txBody>
      </p:sp>
      <p:sp>
        <p:nvSpPr>
          <p:cNvPr id="3" name="Texte"/>
          <p:cNvSpPr txBox="1"/>
          <p:nvPr/>
        </p:nvSpPr>
        <p:spPr>
          <a:xfrm>
            <a:off x="457200" y="1188720"/>
            <a:ext cx="3108960" cy="3383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Proposition sans conflit, relue avant application</a:t>
            </a:r>
            <a:endParaRPr lang="en-US" sz="1400" dirty="0"/>
          </a:p>
          <a:p>
            <a:pPr marL="342900" indent="-342900">
              <a:spcAft>
                <a:spcPts val="600"/>
              </a:spcAft>
              <a:buSzPct val="100000"/>
              <a:buChar char="•"/>
            </a:pPr>
            <a:r>
              <a:rPr lang="en-US" sz="1400" dirty="0">
                <a:solidFill>
                  <a:schemeClr val="tx1"/>
                </a:solidFill>
              </a:rPr>
              <a:t>Séances placées, souhaits respectés, trous comptés</a:t>
            </a:r>
            <a:endParaRPr lang="en-US" sz="1400" dirty="0"/>
          </a:p>
          <a:p>
            <a:pPr marL="342900" indent="-342900">
              <a:spcAft>
                <a:spcPts val="600"/>
              </a:spcAft>
              <a:buSzPct val="100000"/>
              <a:buChar char="•"/>
            </a:pPr>
            <a:r>
              <a:rPr lang="en-US" sz="1400" dirty="0">
                <a:solidFill>
                  <a:schemeClr val="tx1"/>
                </a:solidFill>
              </a:rPr>
              <a:t>Les trous s'affichent en rouge dans la grille</a:t>
            </a:r>
            <a:endParaRPr lang="en-US" sz="1400" dirty="0"/>
          </a:p>
          <a:p>
            <a:pPr marL="342900" indent="-342900">
              <a:spcAft>
                <a:spcPts val="600"/>
              </a:spcAft>
              <a:buSzPct val="100000"/>
              <a:buChar char="•"/>
            </a:pPr>
            <a:r>
              <a:rPr lang="en-US" sz="1400" dirty="0">
                <a:solidFill>
                  <a:schemeClr val="tx1"/>
                </a:solidFill>
              </a:rPr>
              <a:t>Liste des trous par professeur et par classe</a:t>
            </a:r>
            <a:endParaRPr lang="en-US" sz="1400" dirty="0"/>
          </a:p>
        </p:txBody>
      </p:sp>
      <p:sp>
        <p:nvSpPr>
          <p:cNvPr id="4" name="Cadre Proposition d'emploi du temps avec indicateurs"/>
          <p:cNvSpPr/>
          <p:nvPr/>
        </p:nvSpPr>
        <p:spPr>
          <a:xfrm>
            <a:off x="3803904" y="1060704"/>
            <a:ext cx="4919472" cy="3438652"/>
          </a:xfrm>
          <a:prstGeom prst="rect">
            <a:avLst/>
          </a:prstGeom>
          <a:solidFill>
            <a:srgbClr val="FFFFFF"/>
          </a:solidFill>
          <a:ln w="9525">
            <a:solidFill>
              <a:srgbClr val="C9D3CD"/>
            </a:solidFill>
            <a:prstDash val="solid"/>
          </a:ln>
          <a:effectLst>
            <a:outerShdw sx="100000" sy="100000" kx="0" ky="0" algn="bl" rotWithShape="0" blurRad="101600" dist="25400" dir="5400000">
              <a:srgbClr val="000000">
                <a:alpha val="18000"/>
              </a:srgbClr>
            </a:outerShdw>
          </a:effectLst>
        </p:spPr>
      </p:sp>
      <p:pic>
        <p:nvPicPr>
          <p:cNvPr id="5" name="Image 0" descr="Proposition d'emploi du temps avec indicateurs">    </p:cNvPr>
          <p:cNvPicPr>
            <a:picLocks noChangeAspect="1"/>
          </p:cNvPicPr>
          <p:nvPr/>
        </p:nvPicPr>
        <p:blipFill>
          <a:blip r:embed="rId1"/>
          <a:stretch>
            <a:fillRect/>
          </a:stretch>
        </p:blipFill>
        <p:spPr>
          <a:xfrm>
            <a:off x="3840480" y="1097280"/>
            <a:ext cx="4846320" cy="3365500"/>
          </a:xfrm>
          <a:prstGeom prst="rect">
            <a:avLst/>
          </a:prstGeom>
        </p:spPr>
      </p:pic>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Planning du personnel de vie scolaire</a:t>
            </a:r>
            <a:endParaRPr lang="en-US" sz="2800" dirty="0"/>
          </a:p>
        </p:txBody>
      </p:sp>
      <p:sp>
        <p:nvSpPr>
          <p:cNvPr id="3" name="Texte"/>
          <p:cNvSpPr txBox="1"/>
          <p:nvPr/>
        </p:nvSpPr>
        <p:spPr>
          <a:xfrm>
            <a:off x="457200" y="1188720"/>
            <a:ext cx="3108960" cy="3383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Postes colorés : service, étude, foyer, cour, portail, self…</a:t>
            </a:r>
            <a:endParaRPr lang="en-US" sz="1400" dirty="0"/>
          </a:p>
          <a:p>
            <a:pPr marL="342900" indent="-342900">
              <a:spcAft>
                <a:spcPts val="600"/>
              </a:spcAft>
              <a:buSzPct val="100000"/>
              <a:buChar char="•"/>
            </a:pPr>
            <a:r>
              <a:rPr lang="en-US" sz="1400" dirty="0">
                <a:solidFill>
                  <a:schemeClr val="tx1"/>
                </a:solidFill>
              </a:rPr>
              <a:t>Génération automatique selon rôles, contrats et indisponibilités</a:t>
            </a:r>
            <a:endParaRPr lang="en-US" sz="1400" dirty="0"/>
          </a:p>
          <a:p>
            <a:pPr marL="342900" indent="-342900">
              <a:spcAft>
                <a:spcPts val="600"/>
              </a:spcAft>
              <a:buSzPct val="100000"/>
              <a:buChar char="•"/>
            </a:pPr>
            <a:r>
              <a:rPr lang="en-US" sz="1400" dirty="0">
                <a:solidFill>
                  <a:schemeClr val="tx1"/>
                </a:solidFill>
              </a:rPr>
              <a:t>Solde hebdomadaire de chaque agent</a:t>
            </a:r>
            <a:endParaRPr lang="en-US" sz="1400" dirty="0"/>
          </a:p>
          <a:p>
            <a:pPr marL="342900" indent="-342900">
              <a:spcAft>
                <a:spcPts val="600"/>
              </a:spcAft>
              <a:buSzPct val="100000"/>
              <a:buChar char="•"/>
            </a:pPr>
            <a:r>
              <a:rPr lang="en-US" sz="1400" dirty="0">
                <a:solidFill>
                  <a:schemeClr val="tx1"/>
                </a:solidFill>
              </a:rPr>
              <a:t>Modification, copie vers d'autres jours, annulation</a:t>
            </a:r>
            <a:endParaRPr lang="en-US" sz="1400" dirty="0"/>
          </a:p>
        </p:txBody>
      </p:sp>
      <p:sp>
        <p:nvSpPr>
          <p:cNvPr id="4" name="Cadre Planning du personnel en grille"/>
          <p:cNvSpPr/>
          <p:nvPr/>
        </p:nvSpPr>
        <p:spPr>
          <a:xfrm>
            <a:off x="3803904" y="1060704"/>
            <a:ext cx="4919472" cy="3102102"/>
          </a:xfrm>
          <a:prstGeom prst="rect">
            <a:avLst/>
          </a:prstGeom>
          <a:solidFill>
            <a:srgbClr val="FFFFFF"/>
          </a:solidFill>
          <a:ln w="9525">
            <a:solidFill>
              <a:srgbClr val="C9D3CD"/>
            </a:solidFill>
            <a:prstDash val="solid"/>
          </a:ln>
          <a:effectLst>
            <a:outerShdw sx="100000" sy="100000" kx="0" ky="0" algn="bl" rotWithShape="0" blurRad="101600" dist="25400" dir="5400000">
              <a:srgbClr val="000000">
                <a:alpha val="18000"/>
              </a:srgbClr>
            </a:outerShdw>
          </a:effectLst>
        </p:spPr>
      </p:sp>
      <p:pic>
        <p:nvPicPr>
          <p:cNvPr id="5" name="Image 0" descr="Planning du personnel en grille">    </p:cNvPr>
          <p:cNvPicPr>
            <a:picLocks noChangeAspect="1"/>
          </p:cNvPicPr>
          <p:nvPr/>
        </p:nvPicPr>
        <p:blipFill>
          <a:blip r:embed="rId1"/>
          <a:stretch>
            <a:fillRect/>
          </a:stretch>
        </p:blipFill>
        <p:spPr>
          <a:xfrm>
            <a:off x="3840480" y="1097280"/>
            <a:ext cx="4846320" cy="3028950"/>
          </a:xfrm>
          <a:prstGeom prst="rect">
            <a:avLst/>
          </a:prstGeom>
        </p:spPr>
      </p:pic>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Comptage des heures</a:t>
            </a:r>
            <a:endParaRPr lang="en-US" sz="2800" dirty="0"/>
          </a:p>
        </p:txBody>
      </p:sp>
      <p:sp>
        <p:nvSpPr>
          <p:cNvPr id="3" name="Texte"/>
          <p:cNvSpPr txBox="1"/>
          <p:nvPr/>
        </p:nvSpPr>
        <p:spPr>
          <a:xfrm>
            <a:off x="457200" y="1188720"/>
            <a:ext cx="3108960" cy="3383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Heures de chaque professeur, avec service dû et écart</a:t>
            </a:r>
            <a:endParaRPr lang="en-US" sz="1400" dirty="0"/>
          </a:p>
          <a:p>
            <a:pPr marL="342900" indent="-342900">
              <a:spcAft>
                <a:spcPts val="600"/>
              </a:spcAft>
              <a:buSzPct val="100000"/>
              <a:buChar char="•"/>
            </a:pPr>
            <a:r>
              <a:rPr lang="en-US" sz="1400" dirty="0">
                <a:solidFill>
                  <a:schemeClr val="tx1"/>
                </a:solidFill>
              </a:rPr>
              <a:t>Heures remplacées et effectuées en remplacement</a:t>
            </a:r>
            <a:endParaRPr lang="en-US" sz="1400" dirty="0"/>
          </a:p>
          <a:p>
            <a:pPr marL="342900" indent="-342900">
              <a:spcAft>
                <a:spcPts val="600"/>
              </a:spcAft>
              <a:buSzPct val="100000"/>
              <a:buChar char="•"/>
            </a:pPr>
            <a:r>
              <a:rPr lang="en-US" sz="1400" dirty="0">
                <a:solidFill>
                  <a:schemeClr val="tx1"/>
                </a:solidFill>
              </a:rPr>
              <a:t>Heures par classe, détail par matière</a:t>
            </a:r>
            <a:endParaRPr lang="en-US" sz="1400" dirty="0"/>
          </a:p>
          <a:p>
            <a:pPr marL="342900" indent="-342900">
              <a:spcAft>
                <a:spcPts val="600"/>
              </a:spcAft>
              <a:buSzPct val="100000"/>
              <a:buChar char="•"/>
            </a:pPr>
            <a:r>
              <a:rPr lang="en-US" sz="1400" dirty="0">
                <a:solidFill>
                  <a:schemeClr val="tx1"/>
                </a:solidFill>
              </a:rPr>
              <a:t>Export Excel et impression</a:t>
            </a:r>
            <a:endParaRPr lang="en-US" sz="1400" dirty="0"/>
          </a:p>
        </p:txBody>
      </p:sp>
      <p:sp>
        <p:nvSpPr>
          <p:cNvPr id="4" name="Cadre Comptage des heures des professeurs"/>
          <p:cNvSpPr/>
          <p:nvPr/>
        </p:nvSpPr>
        <p:spPr>
          <a:xfrm>
            <a:off x="3803904" y="1060704"/>
            <a:ext cx="4919472" cy="3102102"/>
          </a:xfrm>
          <a:prstGeom prst="rect">
            <a:avLst/>
          </a:prstGeom>
          <a:solidFill>
            <a:srgbClr val="FFFFFF"/>
          </a:solidFill>
          <a:ln w="9525">
            <a:solidFill>
              <a:srgbClr val="C9D3CD"/>
            </a:solidFill>
            <a:prstDash val="solid"/>
          </a:ln>
          <a:effectLst>
            <a:outerShdw sx="100000" sy="100000" kx="0" ky="0" algn="bl" rotWithShape="0" blurRad="101600" dist="25400" dir="5400000">
              <a:srgbClr val="000000">
                <a:alpha val="18000"/>
              </a:srgbClr>
            </a:outerShdw>
          </a:effectLst>
        </p:spPr>
      </p:sp>
      <p:pic>
        <p:nvPicPr>
          <p:cNvPr id="5" name="Image 0" descr="Comptage des heures des professeurs">    </p:cNvPr>
          <p:cNvPicPr>
            <a:picLocks noChangeAspect="1"/>
          </p:cNvPicPr>
          <p:nvPr/>
        </p:nvPicPr>
        <p:blipFill>
          <a:blip r:embed="rId1"/>
          <a:stretch>
            <a:fillRect/>
          </a:stretch>
        </p:blipFill>
        <p:spPr>
          <a:xfrm>
            <a:off x="3840480" y="1097280"/>
            <a:ext cx="4846320" cy="3028950"/>
          </a:xfrm>
          <a:prstGeom prst="rect">
            <a:avLst/>
          </a:prstGeom>
        </p:spPr>
      </p:pic>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Trombinoscope</a:t>
            </a:r>
            <a:endParaRPr lang="en-US" sz="2800" dirty="0"/>
          </a:p>
        </p:txBody>
      </p:sp>
      <p:sp>
        <p:nvSpPr>
          <p:cNvPr id="3" name="Texte"/>
          <p:cNvSpPr txBox="1"/>
          <p:nvPr/>
        </p:nvSpPr>
        <p:spPr>
          <a:xfrm>
            <a:off x="457200" y="1188720"/>
            <a:ext cx="3108960" cy="3383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Élèves par classe avec le professeur principal</a:t>
            </a:r>
            <a:endParaRPr lang="en-US" sz="1400" dirty="0"/>
          </a:p>
          <a:p>
            <a:pPr marL="342900" indent="-342900">
              <a:spcAft>
                <a:spcPts val="600"/>
              </a:spcAft>
              <a:buSzPct val="100000"/>
              <a:buChar char="•"/>
            </a:pPr>
            <a:r>
              <a:rPr lang="en-US" sz="1400" dirty="0">
                <a:solidFill>
                  <a:schemeClr val="tx1"/>
                </a:solidFill>
              </a:rPr>
              <a:t>Professeurs et personnel de vie scolaire</a:t>
            </a:r>
            <a:endParaRPr lang="en-US" sz="1400" dirty="0"/>
          </a:p>
          <a:p>
            <a:pPr marL="342900" indent="-342900">
              <a:spcAft>
                <a:spcPts val="600"/>
              </a:spcAft>
              <a:buSzPct val="100000"/>
              <a:buChar char="•"/>
            </a:pPr>
            <a:r>
              <a:rPr lang="en-US" sz="1400" dirty="0">
                <a:solidFill>
                  <a:schemeClr val="tx1"/>
                </a:solidFill>
              </a:rPr>
              <a:t>Recherche instantanée et tri</a:t>
            </a:r>
            <a:endParaRPr lang="en-US" sz="1400" dirty="0"/>
          </a:p>
          <a:p>
            <a:pPr marL="342900" indent="-342900">
              <a:spcAft>
                <a:spcPts val="600"/>
              </a:spcAft>
              <a:buSzPct val="100000"/>
              <a:buChar char="•"/>
            </a:pPr>
            <a:r>
              <a:rPr lang="en-US" sz="1400" dirty="0">
                <a:solidFill>
                  <a:schemeClr val="tx1"/>
                </a:solidFill>
              </a:rPr>
              <a:t>Photos réduites automatiquement, initiales par défaut</a:t>
            </a:r>
            <a:endParaRPr lang="en-US" sz="1400" dirty="0"/>
          </a:p>
        </p:txBody>
      </p:sp>
      <p:sp>
        <p:nvSpPr>
          <p:cNvPr id="4" name="Cadre Trombinoscope d'une classe"/>
          <p:cNvSpPr/>
          <p:nvPr/>
        </p:nvSpPr>
        <p:spPr>
          <a:xfrm>
            <a:off x="3803904" y="1060704"/>
            <a:ext cx="4919472" cy="3102102"/>
          </a:xfrm>
          <a:prstGeom prst="rect">
            <a:avLst/>
          </a:prstGeom>
          <a:solidFill>
            <a:srgbClr val="FFFFFF"/>
          </a:solidFill>
          <a:ln w="9525">
            <a:solidFill>
              <a:srgbClr val="C9D3CD"/>
            </a:solidFill>
            <a:prstDash val="solid"/>
          </a:ln>
          <a:effectLst>
            <a:outerShdw sx="100000" sy="100000" kx="0" ky="0" algn="bl" rotWithShape="0" blurRad="101600" dist="25400" dir="5400000">
              <a:srgbClr val="000000">
                <a:alpha val="18000"/>
              </a:srgbClr>
            </a:outerShdw>
          </a:effectLst>
        </p:spPr>
      </p:sp>
      <p:pic>
        <p:nvPicPr>
          <p:cNvPr id="5" name="Image 0" descr="Trombinoscope d'une classe">    </p:cNvPr>
          <p:cNvPicPr>
            <a:picLocks noChangeAspect="1"/>
          </p:cNvPicPr>
          <p:nvPr/>
        </p:nvPicPr>
        <p:blipFill>
          <a:blip r:embed="rId1"/>
          <a:stretch>
            <a:fillRect/>
          </a:stretch>
        </p:blipFill>
        <p:spPr>
          <a:xfrm>
            <a:off x="3840480" y="1097280"/>
            <a:ext cx="4846320" cy="3028950"/>
          </a:xfrm>
          <a:prstGeom prst="rect">
            <a:avLst/>
          </a:prstGeom>
        </p:spPr>
      </p:pic>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Pyramide des âges, filles et garçons</a:t>
            </a:r>
            <a:endParaRPr lang="en-US" sz="2800" dirty="0"/>
          </a:p>
        </p:txBody>
      </p:sp>
      <p:sp>
        <p:nvSpPr>
          <p:cNvPr id="3" name="Texte"/>
          <p:cNvSpPr txBox="1"/>
          <p:nvPr/>
        </p:nvSpPr>
        <p:spPr>
          <a:xfrm>
            <a:off x="457200" y="1188720"/>
            <a:ext cx="3108960" cy="3383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Tuiles : total, garçons, filles, âge moyen, âge le plus fréquent</a:t>
            </a:r>
            <a:endParaRPr lang="en-US" sz="1400" dirty="0"/>
          </a:p>
          <a:p>
            <a:pPr marL="342900" indent="-342900">
              <a:spcAft>
                <a:spcPts val="600"/>
              </a:spcAft>
              <a:buSzPct val="100000"/>
              <a:buChar char="•"/>
            </a:pPr>
            <a:r>
              <a:rPr lang="en-US" sz="1400" dirty="0">
                <a:solidFill>
                  <a:schemeClr val="tx1"/>
                </a:solidFill>
              </a:rPr>
              <a:t>Barres avec effectifs, détail au survol</a:t>
            </a:r>
            <a:endParaRPr lang="en-US" sz="1400" dirty="0"/>
          </a:p>
          <a:p>
            <a:pPr marL="342900" indent="-342900">
              <a:spcAft>
                <a:spcPts val="600"/>
              </a:spcAft>
              <a:buSzPct val="100000"/>
              <a:buChar char="•"/>
            </a:pPr>
            <a:r>
              <a:rPr lang="en-US" sz="1400" dirty="0">
                <a:solidFill>
                  <a:schemeClr val="tx1"/>
                </a:solidFill>
              </a:rPr>
              <a:t>Répartition filles-garçons et faits marquants</a:t>
            </a:r>
            <a:endParaRPr lang="en-US" sz="1400" dirty="0"/>
          </a:p>
          <a:p>
            <a:pPr marL="342900" indent="-342900">
              <a:spcAft>
                <a:spcPts val="600"/>
              </a:spcAft>
              <a:buSzPct val="100000"/>
              <a:buChar char="•"/>
            </a:pPr>
            <a:r>
              <a:rPr lang="en-US" sz="1400" dirty="0">
                <a:solidFill>
                  <a:schemeClr val="tx1"/>
                </a:solidFill>
              </a:rPr>
              <a:t>Filtre par niveau ou classe, export Excel</a:t>
            </a:r>
            <a:endParaRPr lang="en-US" sz="1400" dirty="0"/>
          </a:p>
        </p:txBody>
      </p:sp>
      <p:sp>
        <p:nvSpPr>
          <p:cNvPr id="4" name="Cadre Pyramide des âges et des sexes"/>
          <p:cNvSpPr/>
          <p:nvPr/>
        </p:nvSpPr>
        <p:spPr>
          <a:xfrm>
            <a:off x="3803904" y="1060704"/>
            <a:ext cx="4919472" cy="3438652"/>
          </a:xfrm>
          <a:prstGeom prst="rect">
            <a:avLst/>
          </a:prstGeom>
          <a:solidFill>
            <a:srgbClr val="FFFFFF"/>
          </a:solidFill>
          <a:ln w="9525">
            <a:solidFill>
              <a:srgbClr val="C9D3CD"/>
            </a:solidFill>
            <a:prstDash val="solid"/>
          </a:ln>
          <a:effectLst>
            <a:outerShdw sx="100000" sy="100000" kx="0" ky="0" algn="bl" rotWithShape="0" blurRad="101600" dist="25400" dir="5400000">
              <a:srgbClr val="000000">
                <a:alpha val="18000"/>
              </a:srgbClr>
            </a:outerShdw>
          </a:effectLst>
        </p:spPr>
      </p:sp>
      <p:pic>
        <p:nvPicPr>
          <p:cNvPr id="5" name="Image 0" descr="Pyramide des âges et des sexes">    </p:cNvPr>
          <p:cNvPicPr>
            <a:picLocks noChangeAspect="1"/>
          </p:cNvPicPr>
          <p:nvPr/>
        </p:nvPicPr>
        <p:blipFill>
          <a:blip r:embed="rId1"/>
          <a:stretch>
            <a:fillRect/>
          </a:stretch>
        </p:blipFill>
        <p:spPr>
          <a:xfrm>
            <a:off x="3840480" y="1097280"/>
            <a:ext cx="4846320" cy="3365500"/>
          </a:xfrm>
          <a:prstGeom prst="rect">
            <a:avLst/>
          </a:prstGeom>
        </p:spPr>
      </p:pic>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Infirmerie et santé</a:t>
            </a:r>
            <a:endParaRPr lang="en-US" sz="2800" dirty="0"/>
          </a:p>
        </p:txBody>
      </p:sp>
      <p:sp>
        <p:nvSpPr>
          <p:cNvPr id="3" name="Texte"/>
          <p:cNvSpPr txBox="1"/>
          <p:nvPr/>
        </p:nvSpPr>
        <p:spPr>
          <a:xfrm>
            <a:off x="457200" y="1188720"/>
            <a:ext cx="3108960" cy="3383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Planning des soins relié aux emplois du temps</a:t>
            </a:r>
            <a:endParaRPr lang="en-US" sz="1400" dirty="0"/>
          </a:p>
          <a:p>
            <a:pPr marL="342900" indent="-342900">
              <a:spcAft>
                <a:spcPts val="600"/>
              </a:spcAft>
              <a:buSzPct val="100000"/>
              <a:buChar char="•"/>
            </a:pPr>
            <a:r>
              <a:rPr lang="en-US" sz="1400" dirty="0">
                <a:solidFill>
                  <a:schemeClr val="tx1"/>
                </a:solidFill>
              </a:rPr>
              <a:t>Professeur prévenu sans information médicale</a:t>
            </a:r>
            <a:endParaRPr lang="en-US" sz="1400" dirty="0"/>
          </a:p>
          <a:p>
            <a:pPr marL="342900" indent="-342900">
              <a:spcAft>
                <a:spcPts val="600"/>
              </a:spcAft>
              <a:buSzPct val="100000"/>
              <a:buChar char="•"/>
            </a:pPr>
            <a:r>
              <a:rPr lang="en-US" sz="1400" dirty="0">
                <a:solidFill>
                  <a:schemeClr val="tx1"/>
                </a:solidFill>
              </a:rPr>
              <a:t>Passages à l'infirmerie et fiches santé</a:t>
            </a:r>
            <a:endParaRPr lang="en-US" sz="1400" dirty="0"/>
          </a:p>
          <a:p>
            <a:pPr marL="342900" indent="-342900">
              <a:spcAft>
                <a:spcPts val="600"/>
              </a:spcAft>
              <a:buSzPct val="100000"/>
              <a:buChar char="•"/>
            </a:pPr>
            <a:r>
              <a:rPr lang="en-US" sz="1400" dirty="0">
                <a:solidFill>
                  <a:schemeClr val="tx1"/>
                </a:solidFill>
              </a:rPr>
              <a:t>Accès réservé aux personnes habilitées, consultations journalisées</a:t>
            </a:r>
            <a:endParaRPr lang="en-US" sz="1400" dirty="0"/>
          </a:p>
        </p:txBody>
      </p:sp>
      <p:sp>
        <p:nvSpPr>
          <p:cNvPr id="4" name="Cadre Planning des soins de l'infirmerie"/>
          <p:cNvSpPr/>
          <p:nvPr/>
        </p:nvSpPr>
        <p:spPr>
          <a:xfrm>
            <a:off x="3803904" y="1060704"/>
            <a:ext cx="4919472" cy="3102102"/>
          </a:xfrm>
          <a:prstGeom prst="rect">
            <a:avLst/>
          </a:prstGeom>
          <a:solidFill>
            <a:srgbClr val="FFFFFF"/>
          </a:solidFill>
          <a:ln w="9525">
            <a:solidFill>
              <a:srgbClr val="C9D3CD"/>
            </a:solidFill>
            <a:prstDash val="solid"/>
          </a:ln>
          <a:effectLst>
            <a:outerShdw sx="100000" sy="100000" kx="0" ky="0" algn="bl" rotWithShape="0" blurRad="101600" dist="25400" dir="5400000">
              <a:srgbClr val="000000">
                <a:alpha val="18000"/>
              </a:srgbClr>
            </a:outerShdw>
          </a:effectLst>
        </p:spPr>
      </p:sp>
      <p:pic>
        <p:nvPicPr>
          <p:cNvPr id="5" name="Image 0" descr="Planning des soins de l'infirmerie">    </p:cNvPr>
          <p:cNvPicPr>
            <a:picLocks noChangeAspect="1"/>
          </p:cNvPicPr>
          <p:nvPr/>
        </p:nvPicPr>
        <p:blipFill>
          <a:blip r:embed="rId1"/>
          <a:stretch>
            <a:fillRect/>
          </a:stretch>
        </p:blipFill>
        <p:spPr>
          <a:xfrm>
            <a:off x="3840480" y="1097280"/>
            <a:ext cx="4846320" cy="3028950"/>
          </a:xfrm>
          <a:prstGeom prst="rect">
            <a:avLst/>
          </a:prstGeom>
        </p:spPr>
      </p:pic>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Documents rédigés automatiquement</a:t>
            </a:r>
            <a:endParaRPr lang="en-US" sz="2800" dirty="0"/>
          </a:p>
        </p:txBody>
      </p:sp>
      <p:sp>
        <p:nvSpPr>
          <p:cNvPr id="3" name="Texte"/>
          <p:cNvSpPr txBox="1"/>
          <p:nvPr/>
        </p:nvSpPr>
        <p:spPr>
          <a:xfrm>
            <a:off x="457200" y="1188720"/>
            <a:ext cx="3108960" cy="3383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Un incident devient un rapport pré-rempli en un clic</a:t>
            </a:r>
            <a:endParaRPr lang="en-US" sz="1400" dirty="0"/>
          </a:p>
          <a:p>
            <a:pPr marL="342900" indent="-342900">
              <a:spcAft>
                <a:spcPts val="600"/>
              </a:spcAft>
              <a:buSzPct val="100000"/>
              <a:buChar char="•"/>
            </a:pPr>
            <a:r>
              <a:rPr lang="en-US" sz="1400" dirty="0">
                <a:solidFill>
                  <a:schemeClr val="tx1"/>
                </a:solidFill>
              </a:rPr>
              <a:t>Élève, classe, professeur principal, faits repris</a:t>
            </a:r>
            <a:endParaRPr lang="en-US" sz="1400" dirty="0"/>
          </a:p>
          <a:p>
            <a:pPr marL="342900" indent="-342900">
              <a:spcAft>
                <a:spcPts val="600"/>
              </a:spcAft>
              <a:buSzPct val="100000"/>
              <a:buChar char="•"/>
            </a:pPr>
            <a:r>
              <a:rPr lang="en-US" sz="1400" dirty="0">
                <a:solidFill>
                  <a:schemeClr val="tx1"/>
                </a:solidFill>
              </a:rPr>
              <a:t>Modèles modifiables, texte libre</a:t>
            </a:r>
            <a:endParaRPr lang="en-US" sz="1400" dirty="0"/>
          </a:p>
          <a:p>
            <a:pPr marL="342900" indent="-342900">
              <a:spcAft>
                <a:spcPts val="600"/>
              </a:spcAft>
              <a:buSzPct val="100000"/>
              <a:buChar char="•"/>
            </a:pPr>
            <a:r>
              <a:rPr lang="en-US" sz="1400" dirty="0">
                <a:solidFill>
                  <a:schemeClr val="tx1"/>
                </a:solidFill>
              </a:rPr>
              <a:t>Impression PDF et export Word</a:t>
            </a:r>
            <a:endParaRPr lang="en-US" sz="1400" dirty="0"/>
          </a:p>
        </p:txBody>
      </p:sp>
      <p:sp>
        <p:nvSpPr>
          <p:cNvPr id="4" name="Cadre Rédaction assistée d'un document"/>
          <p:cNvSpPr/>
          <p:nvPr/>
        </p:nvSpPr>
        <p:spPr>
          <a:xfrm>
            <a:off x="3803904" y="1060704"/>
            <a:ext cx="4919472" cy="3102102"/>
          </a:xfrm>
          <a:prstGeom prst="rect">
            <a:avLst/>
          </a:prstGeom>
          <a:solidFill>
            <a:srgbClr val="FFFFFF"/>
          </a:solidFill>
          <a:ln w="9525">
            <a:solidFill>
              <a:srgbClr val="C9D3CD"/>
            </a:solidFill>
            <a:prstDash val="solid"/>
          </a:ln>
          <a:effectLst>
            <a:outerShdw sx="100000" sy="100000" kx="0" ky="0" algn="bl" rotWithShape="0" blurRad="101600" dist="25400" dir="5400000">
              <a:srgbClr val="000000">
                <a:alpha val="18000"/>
              </a:srgbClr>
            </a:outerShdw>
          </a:effectLst>
        </p:spPr>
      </p:sp>
      <p:pic>
        <p:nvPicPr>
          <p:cNvPr id="5" name="Image 0" descr="Rédaction assistée d'un document">    </p:cNvPr>
          <p:cNvPicPr>
            <a:picLocks noChangeAspect="1"/>
          </p:cNvPicPr>
          <p:nvPr/>
        </p:nvPicPr>
        <p:blipFill>
          <a:blip r:embed="rId1"/>
          <a:stretch>
            <a:fillRect/>
          </a:stretch>
        </p:blipFill>
        <p:spPr>
          <a:xfrm>
            <a:off x="3840480" y="1097280"/>
            <a:ext cx="4846320" cy="3028950"/>
          </a:xfrm>
          <a:prstGeom prst="rect">
            <a:avLst/>
          </a:prstGeom>
        </p:spPr>
      </p:pic>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En-tête et signataires communs</a:t>
            </a:r>
            <a:endParaRPr lang="en-US" sz="2800" dirty="0"/>
          </a:p>
        </p:txBody>
      </p:sp>
      <p:sp>
        <p:nvSpPr>
          <p:cNvPr id="3" name="Texte"/>
          <p:cNvSpPr txBox="1"/>
          <p:nvPr/>
        </p:nvSpPr>
        <p:spPr>
          <a:xfrm>
            <a:off x="457200" y="1188720"/>
            <a:ext cx="3108960" cy="3383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Ligne officielle, nom, adresse, logo et pied de page</a:t>
            </a:r>
            <a:endParaRPr lang="en-US" sz="1400" dirty="0"/>
          </a:p>
          <a:p>
            <a:pPr marL="342900" indent="-342900">
              <a:spcAft>
                <a:spcPts val="600"/>
              </a:spcAft>
              <a:buSzPct val="100000"/>
              <a:buChar char="•"/>
            </a:pPr>
            <a:r>
              <a:rPr lang="en-US" sz="1400" dirty="0">
                <a:solidFill>
                  <a:schemeClr val="tx1"/>
                </a:solidFill>
              </a:rPr>
              <a:t>Signataires choisis document par document</a:t>
            </a:r>
            <a:endParaRPr lang="en-US" sz="1400" dirty="0"/>
          </a:p>
          <a:p>
            <a:pPr marL="342900" indent="-342900">
              <a:spcAft>
                <a:spcPts val="600"/>
              </a:spcAft>
              <a:buSzPct val="100000"/>
              <a:buChar char="•"/>
            </a:pPr>
            <a:r>
              <a:rPr lang="en-US" sz="1400" dirty="0">
                <a:solidFill>
                  <a:schemeClr val="tx1"/>
                </a:solidFill>
              </a:rPr>
              <a:t>« Fait à … le … » et cases de signature</a:t>
            </a:r>
            <a:endParaRPr lang="en-US" sz="1400" dirty="0"/>
          </a:p>
          <a:p>
            <a:pPr marL="342900" indent="-342900">
              <a:spcAft>
                <a:spcPts val="600"/>
              </a:spcAft>
              <a:buSzPct val="100000"/>
              <a:buChar char="•"/>
            </a:pPr>
            <a:r>
              <a:rPr lang="en-US" sz="1400" dirty="0">
                <a:solidFill>
                  <a:schemeClr val="tx1"/>
                </a:solidFill>
              </a:rPr>
              <a:t>Réglé une seule fois par établissement</a:t>
            </a:r>
            <a:endParaRPr lang="en-US" sz="1400" dirty="0"/>
          </a:p>
        </p:txBody>
      </p:sp>
      <p:sp>
        <p:nvSpPr>
          <p:cNvPr id="4" name="Cadre Réglage de l'en-tête et des signataires"/>
          <p:cNvSpPr/>
          <p:nvPr/>
        </p:nvSpPr>
        <p:spPr>
          <a:xfrm>
            <a:off x="3803904" y="1060704"/>
            <a:ext cx="4919472" cy="3102102"/>
          </a:xfrm>
          <a:prstGeom prst="rect">
            <a:avLst/>
          </a:prstGeom>
          <a:solidFill>
            <a:srgbClr val="FFFFFF"/>
          </a:solidFill>
          <a:ln w="9525">
            <a:solidFill>
              <a:srgbClr val="C9D3CD"/>
            </a:solidFill>
            <a:prstDash val="solid"/>
          </a:ln>
          <a:effectLst>
            <a:outerShdw sx="100000" sy="100000" kx="0" ky="0" algn="bl" rotWithShape="0" blurRad="101600" dist="25400" dir="5400000">
              <a:srgbClr val="000000">
                <a:alpha val="18000"/>
              </a:srgbClr>
            </a:outerShdw>
          </a:effectLst>
        </p:spPr>
      </p:sp>
      <p:pic>
        <p:nvPicPr>
          <p:cNvPr id="5" name="Image 0" descr="Réglage de l'en-tête et des signataires">    </p:cNvPr>
          <p:cNvPicPr>
            <a:picLocks noChangeAspect="1"/>
          </p:cNvPicPr>
          <p:nvPr/>
        </p:nvPicPr>
        <p:blipFill>
          <a:blip r:embed="rId1"/>
          <a:stretch>
            <a:fillRect/>
          </a:stretch>
        </p:blipFill>
        <p:spPr>
          <a:xfrm>
            <a:off x="3840480" y="1097280"/>
            <a:ext cx="4846320" cy="3028950"/>
          </a:xfrm>
          <a:prstGeom prst="rect">
            <a:avLst/>
          </a:prstGeom>
        </p:spPr>
      </p:pic>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Bibliothèque de documents classée</a:t>
            </a:r>
            <a:endParaRPr lang="en-US" sz="2800" dirty="0"/>
          </a:p>
        </p:txBody>
      </p:sp>
      <p:sp>
        <p:nvSpPr>
          <p:cNvPr id="3" name="Texte"/>
          <p:cNvSpPr txBox="1"/>
          <p:nvPr/>
        </p:nvSpPr>
        <p:spPr>
          <a:xfrm>
            <a:off x="457200" y="1188720"/>
            <a:ext cx="3108960" cy="3383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Tous les documents rédigés, archivés avec leur date</a:t>
            </a:r>
            <a:endParaRPr lang="en-US" sz="1400" dirty="0"/>
          </a:p>
          <a:p>
            <a:pPr marL="342900" indent="-342900">
              <a:spcAft>
                <a:spcPts val="600"/>
              </a:spcAft>
              <a:buSzPct val="100000"/>
              <a:buChar char="•"/>
            </a:pPr>
            <a:r>
              <a:rPr lang="en-US" sz="1400" dirty="0">
                <a:solidFill>
                  <a:schemeClr val="tx1"/>
                </a:solidFill>
              </a:rPr>
              <a:t>Classement par date, niveau, classe, élève ou type</a:t>
            </a:r>
            <a:endParaRPr lang="en-US" sz="1400" dirty="0"/>
          </a:p>
          <a:p>
            <a:pPr marL="342900" indent="-342900">
              <a:spcAft>
                <a:spcPts val="600"/>
              </a:spcAft>
              <a:buSzPct val="100000"/>
              <a:buChar char="•"/>
            </a:pPr>
            <a:r>
              <a:rPr lang="en-US" sz="1400" dirty="0">
                <a:solidFill>
                  <a:schemeClr val="tx1"/>
                </a:solidFill>
              </a:rPr>
              <a:t>Recherche et filtres par période</a:t>
            </a:r>
            <a:endParaRPr lang="en-US" sz="1400" dirty="0"/>
          </a:p>
          <a:p>
            <a:pPr marL="342900" indent="-342900">
              <a:spcAft>
                <a:spcPts val="600"/>
              </a:spcAft>
              <a:buSzPct val="100000"/>
              <a:buChar char="•"/>
            </a:pPr>
            <a:r>
              <a:rPr lang="en-US" sz="1400" dirty="0">
                <a:solidFill>
                  <a:schemeClr val="tx1"/>
                </a:solidFill>
              </a:rPr>
              <a:t>Fichiers partagés (PDF, Word, Excel)</a:t>
            </a:r>
            <a:endParaRPr lang="en-US" sz="1400" dirty="0"/>
          </a:p>
        </p:txBody>
      </p:sp>
      <p:sp>
        <p:nvSpPr>
          <p:cNvPr id="4" name="Cadre Bibliothèque de documents avec filtres"/>
          <p:cNvSpPr/>
          <p:nvPr/>
        </p:nvSpPr>
        <p:spPr>
          <a:xfrm>
            <a:off x="3803904" y="1060704"/>
            <a:ext cx="4919472" cy="3102102"/>
          </a:xfrm>
          <a:prstGeom prst="rect">
            <a:avLst/>
          </a:prstGeom>
          <a:solidFill>
            <a:srgbClr val="FFFFFF"/>
          </a:solidFill>
          <a:ln w="9525">
            <a:solidFill>
              <a:srgbClr val="C9D3CD"/>
            </a:solidFill>
            <a:prstDash val="solid"/>
          </a:ln>
          <a:effectLst>
            <a:outerShdw sx="100000" sy="100000" kx="0" ky="0" algn="bl" rotWithShape="0" blurRad="101600" dist="25400" dir="5400000">
              <a:srgbClr val="000000">
                <a:alpha val="18000"/>
              </a:srgbClr>
            </a:outerShdw>
          </a:effectLst>
        </p:spPr>
      </p:sp>
      <p:pic>
        <p:nvPicPr>
          <p:cNvPr id="5" name="Image 0" descr="Bibliothèque de documents avec filtres">    </p:cNvPr>
          <p:cNvPicPr>
            <a:picLocks noChangeAspect="1"/>
          </p:cNvPicPr>
          <p:nvPr/>
        </p:nvPicPr>
        <p:blipFill>
          <a:blip r:embed="rId1"/>
          <a:stretch>
            <a:fillRect/>
          </a:stretch>
        </p:blipFill>
        <p:spPr>
          <a:xfrm>
            <a:off x="3840480" y="1097280"/>
            <a:ext cx="4846320" cy="3028950"/>
          </a:xfrm>
          <a:prstGeom prst="rect">
            <a:avLst/>
          </a:prstGeom>
        </p:spPr>
      </p:pic>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Réunions : un seul point d'entrée</a:t>
            </a:r>
            <a:endParaRPr lang="en-US" sz="2800" dirty="0"/>
          </a:p>
        </p:txBody>
      </p:sp>
      <p:sp>
        <p:nvSpPr>
          <p:cNvPr id="3" name="Texte"/>
          <p:cNvSpPr txBox="1"/>
          <p:nvPr/>
        </p:nvSpPr>
        <p:spPr>
          <a:xfrm>
            <a:off x="457200" y="1188720"/>
            <a:ext cx="3108960" cy="3383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Trois façons de créer : convoquer, convoquer et enregistrer, rédiger un compte rendu</a:t>
            </a:r>
            <a:endParaRPr lang="en-US" sz="1400" dirty="0"/>
          </a:p>
          <a:p>
            <a:pPr marL="342900" indent="-342900">
              <a:spcAft>
                <a:spcPts val="600"/>
              </a:spcAft>
              <a:buSzPct val="100000"/>
              <a:buChar char="•"/>
            </a:pPr>
            <a:r>
              <a:rPr lang="en-US" sz="1400" dirty="0">
                <a:solidFill>
                  <a:schemeClr val="tx1"/>
                </a:solidFill>
              </a:rPr>
              <a:t>Liste unique avec onglets À venir, Passées, Comptes rendus</a:t>
            </a:r>
            <a:endParaRPr lang="en-US" sz="1400" dirty="0"/>
          </a:p>
          <a:p>
            <a:pPr marL="342900" indent="-342900">
              <a:spcAft>
                <a:spcPts val="600"/>
              </a:spcAft>
              <a:buSzPct val="100000"/>
              <a:buChar char="•"/>
            </a:pPr>
            <a:r>
              <a:rPr lang="en-US" sz="1400" dirty="0">
                <a:solidFill>
                  <a:schemeClr val="tx1"/>
                </a:solidFill>
              </a:rPr>
              <a:t>État de chaque réunion : convoquée, enregistrée, transcrite, validée</a:t>
            </a:r>
            <a:endParaRPr lang="en-US" sz="1400" dirty="0"/>
          </a:p>
          <a:p>
            <a:pPr marL="342900" indent="-342900">
              <a:spcAft>
                <a:spcPts val="600"/>
              </a:spcAft>
              <a:buSzPct val="100000"/>
              <a:buChar char="•"/>
            </a:pPr>
            <a:r>
              <a:rPr lang="en-US" sz="1400" dirty="0">
                <a:solidFill>
                  <a:schemeClr val="tx1"/>
                </a:solidFill>
              </a:rPr>
              <a:t>Recherche d'une personne sans quitter la page, brouillon mémorisé</a:t>
            </a:r>
            <a:endParaRPr lang="en-US" sz="1400" dirty="0"/>
          </a:p>
        </p:txBody>
      </p:sp>
      <p:sp>
        <p:nvSpPr>
          <p:cNvPr id="4" name="Cadre Liste des réunions et création"/>
          <p:cNvSpPr/>
          <p:nvPr/>
        </p:nvSpPr>
        <p:spPr>
          <a:xfrm>
            <a:off x="3803904" y="1060704"/>
            <a:ext cx="4919472" cy="3438652"/>
          </a:xfrm>
          <a:prstGeom prst="rect">
            <a:avLst/>
          </a:prstGeom>
          <a:solidFill>
            <a:srgbClr val="FFFFFF"/>
          </a:solidFill>
          <a:ln w="9525">
            <a:solidFill>
              <a:srgbClr val="C9D3CD"/>
            </a:solidFill>
            <a:prstDash val="solid"/>
          </a:ln>
          <a:effectLst>
            <a:outerShdw sx="100000" sy="100000" kx="0" ky="0" algn="bl" rotWithShape="0" blurRad="101600" dist="25400" dir="5400000">
              <a:srgbClr val="000000">
                <a:alpha val="18000"/>
              </a:srgbClr>
            </a:outerShdw>
          </a:effectLst>
        </p:spPr>
      </p:sp>
      <p:pic>
        <p:nvPicPr>
          <p:cNvPr id="5" name="Image 0" descr="Liste des réunions et création">    </p:cNvPr>
          <p:cNvPicPr>
            <a:picLocks noChangeAspect="1"/>
          </p:cNvPicPr>
          <p:nvPr/>
        </p:nvPicPr>
        <p:blipFill>
          <a:blip r:embed="rId1"/>
          <a:stretch>
            <a:fillRect/>
          </a:stretch>
        </p:blipFill>
        <p:spPr>
          <a:xfrm>
            <a:off x="3840480" y="1097280"/>
            <a:ext cx="4846320" cy="3365500"/>
          </a:xfrm>
          <a:prstGeom prst="rect">
            <a:avLst/>
          </a:prstGeom>
        </p:spPr>
      </p:pic>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Réunions : de la parole au compte rendu</a:t>
            </a:r>
            <a:endParaRPr lang="en-US" sz="2800" dirty="0"/>
          </a:p>
        </p:txBody>
      </p:sp>
      <p:sp>
        <p:nvSpPr>
          <p:cNvPr id="3" name="Étape 1"/>
          <p:cNvSpPr/>
          <p:nvPr/>
        </p:nvSpPr>
        <p:spPr>
          <a:xfrm>
            <a:off x="457200" y="1371600"/>
            <a:ext cx="1828800" cy="2148840"/>
          </a:xfrm>
          <a:prstGeom prst="roundRect">
            <a:avLst>
              <a:gd name="adj" fmla="val 4000"/>
            </a:avLst>
          </a:prstGeom>
          <a:solidFill>
            <a:schemeClr val="bg2"/>
          </a:solidFill>
          <a:ln w="9525">
            <a:solidFill>
              <a:srgbClr val="DDE5E0"/>
            </a:solidFill>
            <a:prstDash val="solid"/>
          </a:ln>
        </p:spPr>
      </p:sp>
      <p:sp>
        <p:nvSpPr>
          <p:cNvPr id="4" name="Pastille 1. Consentement"/>
          <p:cNvSpPr/>
          <p:nvPr/>
        </p:nvSpPr>
        <p:spPr>
          <a:xfrm>
            <a:off x="1097280" y="1554480"/>
            <a:ext cx="548640" cy="548640"/>
          </a:xfrm>
          <a:prstGeom prst="ellipse">
            <a:avLst/>
          </a:prstGeom>
          <a:solidFill>
            <a:schemeClr val="accent1"/>
          </a:solidFill>
          <a:ln/>
        </p:spPr>
      </p:sp>
      <p:pic>
        <p:nvPicPr>
          <p:cNvPr id="5" name="Image 0" descr="1. Consentement">    </p:cNvPr>
          <p:cNvPicPr>
            <a:picLocks noChangeAspect="1"/>
          </p:cNvPicPr>
          <p:nvPr/>
        </p:nvPicPr>
        <p:blipFill>
          <a:blip r:embed="rId1"/>
          <a:stretch>
            <a:fillRect/>
          </a:stretch>
        </p:blipFill>
        <p:spPr>
          <a:xfrm>
            <a:off x="1216152" y="1673352"/>
            <a:ext cx="310896" cy="310896"/>
          </a:xfrm>
          <a:prstGeom prst="rect">
            <a:avLst/>
          </a:prstGeom>
        </p:spPr>
      </p:pic>
      <p:sp>
        <p:nvSpPr>
          <p:cNvPr id="6" name="Text 3"/>
          <p:cNvSpPr txBox="1"/>
          <p:nvPr/>
        </p:nvSpPr>
        <p:spPr>
          <a:xfrm>
            <a:off x="548640" y="2240280"/>
            <a:ext cx="1645920" cy="365760"/>
          </a:xfrm>
          <a:prstGeom prst="rect">
            <a:avLst/>
          </a:prstGeom>
          <a:noFill/>
          <a:ln/>
        </p:spPr>
        <p:txBody>
          <a:bodyPr wrap="square" lIns="0" tIns="0" rIns="0" bIns="0" rtlCol="0" anchor="ctr"/>
          <a:lstStyle/>
          <a:p>
            <a:pPr algn="ctr" indent="0" marL="0">
              <a:buNone/>
            </a:pPr>
            <a:r>
              <a:rPr lang="en-US" sz="1600" b="1" dirty="0">
                <a:solidFill>
                  <a:schemeClr val="tx1"/>
                </a:solidFill>
              </a:rPr>
              <a:t>1. Consentement</a:t>
            </a:r>
            <a:endParaRPr lang="en-US" sz="1600" dirty="0"/>
          </a:p>
        </p:txBody>
      </p:sp>
      <p:sp>
        <p:nvSpPr>
          <p:cNvPr id="7" name="Text 4"/>
          <p:cNvSpPr txBox="1"/>
          <p:nvPr/>
        </p:nvSpPr>
        <p:spPr>
          <a:xfrm>
            <a:off x="566928" y="2651760"/>
            <a:ext cx="1609344" cy="777240"/>
          </a:xfrm>
          <a:prstGeom prst="rect">
            <a:avLst/>
          </a:prstGeom>
          <a:noFill/>
          <a:ln/>
        </p:spPr>
        <p:txBody>
          <a:bodyPr wrap="square" lIns="0" tIns="0" rIns="0" bIns="0" rtlCol="0" anchor="t"/>
          <a:lstStyle/>
          <a:p>
            <a:pPr algn="ctr" indent="0" marL="0">
              <a:buNone/>
            </a:pPr>
            <a:r>
              <a:rPr lang="en-US" sz="1300" dirty="0">
                <a:solidFill>
                  <a:schemeClr val="tx2"/>
                </a:solidFill>
              </a:rPr>
              <a:t>Participants cochés dans l'annuaire, accord de chacun</a:t>
            </a:r>
            <a:endParaRPr lang="en-US" sz="1300" dirty="0"/>
          </a:p>
        </p:txBody>
      </p:sp>
      <p:sp>
        <p:nvSpPr>
          <p:cNvPr id="8" name="Flèche 1"/>
          <p:cNvSpPr txBox="1"/>
          <p:nvPr/>
        </p:nvSpPr>
        <p:spPr>
          <a:xfrm>
            <a:off x="2286000" y="2148840"/>
            <a:ext cx="301752" cy="457200"/>
          </a:xfrm>
          <a:prstGeom prst="rect">
            <a:avLst/>
          </a:prstGeom>
          <a:noFill/>
          <a:ln/>
        </p:spPr>
        <p:txBody>
          <a:bodyPr wrap="square" lIns="0" tIns="0" rIns="0" bIns="0" rtlCol="0" anchor="ctr"/>
          <a:lstStyle/>
          <a:p>
            <a:pPr algn="ctr" indent="0" marL="0">
              <a:buNone/>
            </a:pPr>
            <a:r>
              <a:rPr lang="en-US" sz="2400" b="1" dirty="0">
                <a:solidFill>
                  <a:schemeClr val="accent1"/>
                </a:solidFill>
              </a:rPr>
              <a:t>→</a:t>
            </a:r>
            <a:endParaRPr lang="en-US" sz="2400" dirty="0"/>
          </a:p>
        </p:txBody>
      </p:sp>
      <p:sp>
        <p:nvSpPr>
          <p:cNvPr id="9" name="Étape 2"/>
          <p:cNvSpPr/>
          <p:nvPr/>
        </p:nvSpPr>
        <p:spPr>
          <a:xfrm>
            <a:off x="2587752" y="1371600"/>
            <a:ext cx="1828800" cy="2148840"/>
          </a:xfrm>
          <a:prstGeom prst="roundRect">
            <a:avLst>
              <a:gd name="adj" fmla="val 4000"/>
            </a:avLst>
          </a:prstGeom>
          <a:solidFill>
            <a:schemeClr val="bg2"/>
          </a:solidFill>
          <a:ln w="9525">
            <a:solidFill>
              <a:srgbClr val="DDE5E0"/>
            </a:solidFill>
            <a:prstDash val="solid"/>
          </a:ln>
        </p:spPr>
      </p:sp>
      <p:sp>
        <p:nvSpPr>
          <p:cNvPr id="10" name="Pastille 2. Enregistrement"/>
          <p:cNvSpPr/>
          <p:nvPr/>
        </p:nvSpPr>
        <p:spPr>
          <a:xfrm>
            <a:off x="3227832" y="1554480"/>
            <a:ext cx="548640" cy="548640"/>
          </a:xfrm>
          <a:prstGeom prst="ellipse">
            <a:avLst/>
          </a:prstGeom>
          <a:solidFill>
            <a:schemeClr val="accent1"/>
          </a:solidFill>
          <a:ln/>
        </p:spPr>
      </p:sp>
      <p:pic>
        <p:nvPicPr>
          <p:cNvPr id="11" name="Image 1" descr="2. Enregistrement">    </p:cNvPr>
          <p:cNvPicPr>
            <a:picLocks noChangeAspect="1"/>
          </p:cNvPicPr>
          <p:nvPr/>
        </p:nvPicPr>
        <p:blipFill>
          <a:blip r:embed="rId2"/>
          <a:stretch>
            <a:fillRect/>
          </a:stretch>
        </p:blipFill>
        <p:spPr>
          <a:xfrm>
            <a:off x="3346704" y="1673352"/>
            <a:ext cx="310896" cy="310896"/>
          </a:xfrm>
          <a:prstGeom prst="rect">
            <a:avLst/>
          </a:prstGeom>
        </p:spPr>
      </p:pic>
      <p:sp>
        <p:nvSpPr>
          <p:cNvPr id="12" name="Text 8"/>
          <p:cNvSpPr txBox="1"/>
          <p:nvPr/>
        </p:nvSpPr>
        <p:spPr>
          <a:xfrm>
            <a:off x="2679192" y="2240280"/>
            <a:ext cx="1645920" cy="365760"/>
          </a:xfrm>
          <a:prstGeom prst="rect">
            <a:avLst/>
          </a:prstGeom>
          <a:noFill/>
          <a:ln/>
        </p:spPr>
        <p:txBody>
          <a:bodyPr wrap="square" lIns="0" tIns="0" rIns="0" bIns="0" rtlCol="0" anchor="ctr"/>
          <a:lstStyle/>
          <a:p>
            <a:pPr algn="ctr" indent="0" marL="0">
              <a:buNone/>
            </a:pPr>
            <a:r>
              <a:rPr lang="en-US" sz="1600" b="1" dirty="0">
                <a:solidFill>
                  <a:schemeClr val="tx1"/>
                </a:solidFill>
              </a:rPr>
              <a:t>2. Enregistrement</a:t>
            </a:r>
            <a:endParaRPr lang="en-US" sz="1600" dirty="0"/>
          </a:p>
        </p:txBody>
      </p:sp>
      <p:sp>
        <p:nvSpPr>
          <p:cNvPr id="13" name="Text 9"/>
          <p:cNvSpPr txBox="1"/>
          <p:nvPr/>
        </p:nvSpPr>
        <p:spPr>
          <a:xfrm>
            <a:off x="2697480" y="2651760"/>
            <a:ext cx="1609344" cy="777240"/>
          </a:xfrm>
          <a:prstGeom prst="rect">
            <a:avLst/>
          </a:prstGeom>
          <a:noFill/>
          <a:ln/>
        </p:spPr>
        <p:txBody>
          <a:bodyPr wrap="square" lIns="0" tIns="0" rIns="0" bIns="0" rtlCol="0" anchor="t"/>
          <a:lstStyle/>
          <a:p>
            <a:pPr algn="ctr" indent="0" marL="0">
              <a:buNone/>
            </a:pPr>
            <a:r>
              <a:rPr lang="en-US" sz="1300" dirty="0">
                <a:solidFill>
                  <a:schemeClr val="tx2"/>
                </a:solidFill>
              </a:rPr>
              <a:t>Micro de l'ordinateur ou du téléphone, pause, reprise</a:t>
            </a:r>
            <a:endParaRPr lang="en-US" sz="1300" dirty="0"/>
          </a:p>
        </p:txBody>
      </p:sp>
      <p:sp>
        <p:nvSpPr>
          <p:cNvPr id="14" name="Flèche 2"/>
          <p:cNvSpPr txBox="1"/>
          <p:nvPr/>
        </p:nvSpPr>
        <p:spPr>
          <a:xfrm>
            <a:off x="4416552" y="2148840"/>
            <a:ext cx="301752" cy="457200"/>
          </a:xfrm>
          <a:prstGeom prst="rect">
            <a:avLst/>
          </a:prstGeom>
          <a:noFill/>
          <a:ln/>
        </p:spPr>
        <p:txBody>
          <a:bodyPr wrap="square" lIns="0" tIns="0" rIns="0" bIns="0" rtlCol="0" anchor="ctr"/>
          <a:lstStyle/>
          <a:p>
            <a:pPr algn="ctr" indent="0" marL="0">
              <a:buNone/>
            </a:pPr>
            <a:r>
              <a:rPr lang="en-US" sz="2400" b="1" dirty="0">
                <a:solidFill>
                  <a:schemeClr val="accent1"/>
                </a:solidFill>
              </a:rPr>
              <a:t>→</a:t>
            </a:r>
            <a:endParaRPr lang="en-US" sz="2400" dirty="0"/>
          </a:p>
        </p:txBody>
      </p:sp>
      <p:sp>
        <p:nvSpPr>
          <p:cNvPr id="15" name="Étape 3"/>
          <p:cNvSpPr/>
          <p:nvPr/>
        </p:nvSpPr>
        <p:spPr>
          <a:xfrm>
            <a:off x="4718304" y="1371600"/>
            <a:ext cx="1828800" cy="2148840"/>
          </a:xfrm>
          <a:prstGeom prst="roundRect">
            <a:avLst>
              <a:gd name="adj" fmla="val 4000"/>
            </a:avLst>
          </a:prstGeom>
          <a:solidFill>
            <a:schemeClr val="bg2"/>
          </a:solidFill>
          <a:ln w="9525">
            <a:solidFill>
              <a:srgbClr val="DDE5E0"/>
            </a:solidFill>
            <a:prstDash val="solid"/>
          </a:ln>
        </p:spPr>
      </p:sp>
      <p:sp>
        <p:nvSpPr>
          <p:cNvPr id="16" name="Pastille 3. Transcription"/>
          <p:cNvSpPr/>
          <p:nvPr/>
        </p:nvSpPr>
        <p:spPr>
          <a:xfrm>
            <a:off x="5358384" y="1554480"/>
            <a:ext cx="548640" cy="548640"/>
          </a:xfrm>
          <a:prstGeom prst="ellipse">
            <a:avLst/>
          </a:prstGeom>
          <a:solidFill>
            <a:schemeClr val="accent1"/>
          </a:solidFill>
          <a:ln/>
        </p:spPr>
      </p:sp>
      <p:pic>
        <p:nvPicPr>
          <p:cNvPr id="17" name="Image 2" descr="3. Transcription">    </p:cNvPr>
          <p:cNvPicPr>
            <a:picLocks noChangeAspect="1"/>
          </p:cNvPicPr>
          <p:nvPr/>
        </p:nvPicPr>
        <p:blipFill>
          <a:blip r:embed="rId3"/>
          <a:stretch>
            <a:fillRect/>
          </a:stretch>
        </p:blipFill>
        <p:spPr>
          <a:xfrm>
            <a:off x="5477256" y="1673352"/>
            <a:ext cx="310896" cy="310896"/>
          </a:xfrm>
          <a:prstGeom prst="rect">
            <a:avLst/>
          </a:prstGeom>
        </p:spPr>
      </p:pic>
      <p:sp>
        <p:nvSpPr>
          <p:cNvPr id="18" name="Text 13"/>
          <p:cNvSpPr txBox="1"/>
          <p:nvPr/>
        </p:nvSpPr>
        <p:spPr>
          <a:xfrm>
            <a:off x="4809744" y="2240280"/>
            <a:ext cx="1645920" cy="365760"/>
          </a:xfrm>
          <a:prstGeom prst="rect">
            <a:avLst/>
          </a:prstGeom>
          <a:noFill/>
          <a:ln/>
        </p:spPr>
        <p:txBody>
          <a:bodyPr wrap="square" lIns="0" tIns="0" rIns="0" bIns="0" rtlCol="0" anchor="ctr"/>
          <a:lstStyle/>
          <a:p>
            <a:pPr algn="ctr" indent="0" marL="0">
              <a:buNone/>
            </a:pPr>
            <a:r>
              <a:rPr lang="en-US" sz="1600" b="1" dirty="0">
                <a:solidFill>
                  <a:schemeClr val="tx1"/>
                </a:solidFill>
              </a:rPr>
              <a:t>3. Transcription</a:t>
            </a:r>
            <a:endParaRPr lang="en-US" sz="1600" dirty="0"/>
          </a:p>
        </p:txBody>
      </p:sp>
      <p:sp>
        <p:nvSpPr>
          <p:cNvPr id="19" name="Text 14"/>
          <p:cNvSpPr txBox="1"/>
          <p:nvPr/>
        </p:nvSpPr>
        <p:spPr>
          <a:xfrm>
            <a:off x="4828032" y="2651760"/>
            <a:ext cx="1609344" cy="777240"/>
          </a:xfrm>
          <a:prstGeom prst="rect">
            <a:avLst/>
          </a:prstGeom>
          <a:noFill/>
          <a:ln/>
        </p:spPr>
        <p:txBody>
          <a:bodyPr wrap="square" lIns="0" tIns="0" rIns="0" bIns="0" rtlCol="0" anchor="t"/>
          <a:lstStyle/>
          <a:p>
            <a:pPr algn="ctr" indent="0" marL="0">
              <a:buNone/>
            </a:pPr>
            <a:r>
              <a:rPr lang="en-US" sz="1300" dirty="0">
                <a:solidFill>
                  <a:schemeClr val="tx2"/>
                </a:solidFill>
              </a:rPr>
              <a:t>Texte corrigeable, hors-sujet repéré en rouge</a:t>
            </a:r>
            <a:endParaRPr lang="en-US" sz="1300" dirty="0"/>
          </a:p>
        </p:txBody>
      </p:sp>
      <p:sp>
        <p:nvSpPr>
          <p:cNvPr id="20" name="Flèche 3"/>
          <p:cNvSpPr txBox="1"/>
          <p:nvPr/>
        </p:nvSpPr>
        <p:spPr>
          <a:xfrm>
            <a:off x="6547104" y="2148840"/>
            <a:ext cx="301752" cy="457200"/>
          </a:xfrm>
          <a:prstGeom prst="rect">
            <a:avLst/>
          </a:prstGeom>
          <a:noFill/>
          <a:ln/>
        </p:spPr>
        <p:txBody>
          <a:bodyPr wrap="square" lIns="0" tIns="0" rIns="0" bIns="0" rtlCol="0" anchor="ctr"/>
          <a:lstStyle/>
          <a:p>
            <a:pPr algn="ctr" indent="0" marL="0">
              <a:buNone/>
            </a:pPr>
            <a:r>
              <a:rPr lang="en-US" sz="2400" b="1" dirty="0">
                <a:solidFill>
                  <a:schemeClr val="accent1"/>
                </a:solidFill>
              </a:rPr>
              <a:t>→</a:t>
            </a:r>
            <a:endParaRPr lang="en-US" sz="2400" dirty="0"/>
          </a:p>
        </p:txBody>
      </p:sp>
      <p:sp>
        <p:nvSpPr>
          <p:cNvPr id="21" name="Étape 4"/>
          <p:cNvSpPr/>
          <p:nvPr/>
        </p:nvSpPr>
        <p:spPr>
          <a:xfrm>
            <a:off x="6848856" y="1371600"/>
            <a:ext cx="1828800" cy="2148840"/>
          </a:xfrm>
          <a:prstGeom prst="roundRect">
            <a:avLst>
              <a:gd name="adj" fmla="val 4000"/>
            </a:avLst>
          </a:prstGeom>
          <a:solidFill>
            <a:schemeClr val="bg2"/>
          </a:solidFill>
          <a:ln w="9525">
            <a:solidFill>
              <a:srgbClr val="DDE5E0"/>
            </a:solidFill>
            <a:prstDash val="solid"/>
          </a:ln>
        </p:spPr>
      </p:sp>
      <p:sp>
        <p:nvSpPr>
          <p:cNvPr id="22" name="Pastille 4. Compte rendu"/>
          <p:cNvSpPr/>
          <p:nvPr/>
        </p:nvSpPr>
        <p:spPr>
          <a:xfrm>
            <a:off x="7488936" y="1554480"/>
            <a:ext cx="548640" cy="548640"/>
          </a:xfrm>
          <a:prstGeom prst="ellipse">
            <a:avLst/>
          </a:prstGeom>
          <a:solidFill>
            <a:schemeClr val="accent1"/>
          </a:solidFill>
          <a:ln/>
        </p:spPr>
      </p:sp>
      <p:pic>
        <p:nvPicPr>
          <p:cNvPr id="23" name="Image 3" descr="4. Compte rendu">    </p:cNvPr>
          <p:cNvPicPr>
            <a:picLocks noChangeAspect="1"/>
          </p:cNvPicPr>
          <p:nvPr/>
        </p:nvPicPr>
        <p:blipFill>
          <a:blip r:embed="rId4"/>
          <a:stretch>
            <a:fillRect/>
          </a:stretch>
        </p:blipFill>
        <p:spPr>
          <a:xfrm>
            <a:off x="7607808" y="1673352"/>
            <a:ext cx="310896" cy="310896"/>
          </a:xfrm>
          <a:prstGeom prst="rect">
            <a:avLst/>
          </a:prstGeom>
        </p:spPr>
      </p:pic>
      <p:sp>
        <p:nvSpPr>
          <p:cNvPr id="24" name="Text 18"/>
          <p:cNvSpPr txBox="1"/>
          <p:nvPr/>
        </p:nvSpPr>
        <p:spPr>
          <a:xfrm>
            <a:off x="6940296" y="2240280"/>
            <a:ext cx="1645920" cy="365760"/>
          </a:xfrm>
          <a:prstGeom prst="rect">
            <a:avLst/>
          </a:prstGeom>
          <a:noFill/>
          <a:ln/>
        </p:spPr>
        <p:txBody>
          <a:bodyPr wrap="square" lIns="0" tIns="0" rIns="0" bIns="0" rtlCol="0" anchor="ctr"/>
          <a:lstStyle/>
          <a:p>
            <a:pPr algn="ctr" indent="0" marL="0">
              <a:buNone/>
            </a:pPr>
            <a:r>
              <a:rPr lang="en-US" sz="1600" b="1" dirty="0">
                <a:solidFill>
                  <a:schemeClr val="tx1"/>
                </a:solidFill>
              </a:rPr>
              <a:t>4. Compte rendu</a:t>
            </a:r>
            <a:endParaRPr lang="en-US" sz="1600" dirty="0"/>
          </a:p>
        </p:txBody>
      </p:sp>
      <p:sp>
        <p:nvSpPr>
          <p:cNvPr id="25" name="Text 19"/>
          <p:cNvSpPr txBox="1"/>
          <p:nvPr/>
        </p:nvSpPr>
        <p:spPr>
          <a:xfrm>
            <a:off x="6958584" y="2651760"/>
            <a:ext cx="1609344" cy="777240"/>
          </a:xfrm>
          <a:prstGeom prst="rect">
            <a:avLst/>
          </a:prstGeom>
          <a:noFill/>
          <a:ln/>
        </p:spPr>
        <p:txBody>
          <a:bodyPr wrap="square" lIns="0" tIns="0" rIns="0" bIns="0" rtlCol="0" anchor="t"/>
          <a:lstStyle/>
          <a:p>
            <a:pPr algn="ctr" indent="0" marL="0">
              <a:buNone/>
            </a:pPr>
            <a:r>
              <a:rPr lang="en-US" sz="1300" dirty="0">
                <a:solidFill>
                  <a:schemeClr val="tx2"/>
                </a:solidFill>
              </a:rPr>
              <a:t>Brouillon IA relu, corrigé, puis validé</a:t>
            </a:r>
            <a:endParaRPr lang="en-US" sz="1300" dirty="0"/>
          </a:p>
        </p:txBody>
      </p:sp>
      <p:sp>
        <p:nvSpPr>
          <p:cNvPr id="26" name="Text 20"/>
          <p:cNvSpPr txBox="1"/>
          <p:nvPr/>
        </p:nvSpPr>
        <p:spPr>
          <a:xfrm>
            <a:off x="457200" y="3840480"/>
            <a:ext cx="8229600" cy="548640"/>
          </a:xfrm>
          <a:prstGeom prst="rect">
            <a:avLst/>
          </a:prstGeom>
          <a:noFill/>
          <a:ln/>
        </p:spPr>
        <p:txBody>
          <a:bodyPr wrap="square" lIns="0" tIns="0" rIns="0" bIns="0" rtlCol="0" anchor="ctr"/>
          <a:lstStyle/>
          <a:p>
            <a:pPr indent="0" marL="0">
              <a:buNone/>
            </a:pPr>
            <a:r>
              <a:rPr lang="en-US" sz="1600" dirty="0">
                <a:solidFill>
                  <a:schemeClr val="tx1"/>
                </a:solidFill>
              </a:rPr>
              <a:t>L'IA propose, le responsable relit et valide : elle n'invente ni décision ni responsable, et signale ce qui manque.</a:t>
            </a:r>
            <a:endParaRPr lang="en-US" sz="16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Préparation et consentement des participants</a:t>
            </a:r>
            <a:endParaRPr lang="en-US" sz="2800" dirty="0"/>
          </a:p>
        </p:txBody>
      </p:sp>
      <p:sp>
        <p:nvSpPr>
          <p:cNvPr id="3" name="Texte"/>
          <p:cNvSpPr txBox="1"/>
          <p:nvPr/>
        </p:nvSpPr>
        <p:spPr>
          <a:xfrm>
            <a:off x="457200" y="1188720"/>
            <a:ext cx="3108960" cy="3383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Participants cochés dans l'annuaire : professeurs, direction, personnel</a:t>
            </a:r>
            <a:endParaRPr lang="en-US" sz="1400" dirty="0"/>
          </a:p>
          <a:p>
            <a:pPr marL="342900" indent="-342900">
              <a:spcAft>
                <a:spcPts val="600"/>
              </a:spcAft>
              <a:buSzPct val="100000"/>
              <a:buChar char="•"/>
            </a:pPr>
            <a:r>
              <a:rPr lang="en-US" sz="1400" dirty="0">
                <a:solidFill>
                  <a:schemeClr val="tx1"/>
                </a:solidFill>
              </a:rPr>
              <a:t>Texte d'information à lire avant de commencer</a:t>
            </a:r>
            <a:endParaRPr lang="en-US" sz="1400" dirty="0"/>
          </a:p>
          <a:p>
            <a:pPr marL="342900" indent="-342900">
              <a:spcAft>
                <a:spcPts val="600"/>
              </a:spcAft>
              <a:buSzPct val="100000"/>
              <a:buChar char="•"/>
            </a:pPr>
            <a:r>
              <a:rPr lang="en-US" sz="1400" dirty="0">
                <a:solidFill>
                  <a:schemeClr val="tx1"/>
                </a:solidFill>
              </a:rPr>
              <a:t>Consentement de chaque participant et attestation du responsable</a:t>
            </a:r>
            <a:endParaRPr lang="en-US" sz="1400" dirty="0"/>
          </a:p>
          <a:p>
            <a:pPr marL="342900" indent="-342900">
              <a:spcAft>
                <a:spcPts val="600"/>
              </a:spcAft>
              <a:buSzPct val="100000"/>
              <a:buChar char="•"/>
            </a:pPr>
            <a:r>
              <a:rPr lang="en-US" sz="1400" dirty="0">
                <a:solidFill>
                  <a:schemeClr val="tx1"/>
                </a:solidFill>
              </a:rPr>
              <a:t>Sans consentement, l'enregistrement est bloqué</a:t>
            </a:r>
            <a:endParaRPr lang="en-US" sz="1400" dirty="0"/>
          </a:p>
        </p:txBody>
      </p:sp>
      <p:sp>
        <p:nvSpPr>
          <p:cNvPr id="4" name="Cadre Préparation d'une réunion et consentements"/>
          <p:cNvSpPr/>
          <p:nvPr/>
        </p:nvSpPr>
        <p:spPr>
          <a:xfrm>
            <a:off x="3803904" y="1060704"/>
            <a:ext cx="4919472" cy="3281517"/>
          </a:xfrm>
          <a:prstGeom prst="rect">
            <a:avLst/>
          </a:prstGeom>
          <a:solidFill>
            <a:srgbClr val="FFFFFF"/>
          </a:solidFill>
          <a:ln w="9525">
            <a:solidFill>
              <a:srgbClr val="C9D3CD"/>
            </a:solidFill>
            <a:prstDash val="solid"/>
          </a:ln>
          <a:effectLst>
            <a:outerShdw sx="100000" sy="100000" kx="0" ky="0" algn="bl" rotWithShape="0" blurRad="101600" dist="25400" dir="5400000">
              <a:srgbClr val="000000">
                <a:alpha val="18000"/>
              </a:srgbClr>
            </a:outerShdw>
          </a:effectLst>
        </p:spPr>
      </p:sp>
      <p:pic>
        <p:nvPicPr>
          <p:cNvPr id="5" name="Image 0" descr="Préparation d'une réunion et consentements">    </p:cNvPr>
          <p:cNvPicPr>
            <a:picLocks noChangeAspect="1"/>
          </p:cNvPicPr>
          <p:nvPr/>
        </p:nvPicPr>
        <p:blipFill>
          <a:blip r:embed="rId1"/>
          <a:stretch>
            <a:fillRect/>
          </a:stretch>
        </p:blipFill>
        <p:spPr>
          <a:xfrm>
            <a:off x="3840480" y="1097280"/>
            <a:ext cx="4846320" cy="3208365"/>
          </a:xfrm>
          <a:prstGeom prst="rect">
            <a:avLst/>
          </a:prstGeom>
        </p:spPr>
      </p:pic>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Enregistrement : chronomètre, micro, pause</a:t>
            </a:r>
            <a:endParaRPr lang="en-US" sz="2800" dirty="0"/>
          </a:p>
        </p:txBody>
      </p:sp>
      <p:sp>
        <p:nvSpPr>
          <p:cNvPr id="3" name="Texte"/>
          <p:cNvSpPr txBox="1"/>
          <p:nvPr/>
        </p:nvSpPr>
        <p:spPr>
          <a:xfrm>
            <a:off x="457200" y="1188720"/>
            <a:ext cx="3108960" cy="3383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Démarrer, pause, reprise, arrêt</a:t>
            </a:r>
            <a:endParaRPr lang="en-US" sz="1400" dirty="0"/>
          </a:p>
          <a:p>
            <a:pPr marL="342900" indent="-342900">
              <a:spcAft>
                <a:spcPts val="600"/>
              </a:spcAft>
              <a:buSzPct val="100000"/>
              <a:buChar char="•"/>
            </a:pPr>
            <a:r>
              <a:rPr lang="en-US" sz="1400" dirty="0">
                <a:solidFill>
                  <a:schemeClr val="tx1"/>
                </a:solidFill>
              </a:rPr>
              <a:t>Chronomètre, voyant et niveau sonore du micro</a:t>
            </a:r>
            <a:endParaRPr lang="en-US" sz="1400" dirty="0"/>
          </a:p>
          <a:p>
            <a:pPr marL="342900" indent="-342900">
              <a:spcAft>
                <a:spcPts val="600"/>
              </a:spcAft>
              <a:buSzPct val="100000"/>
              <a:buChar char="•"/>
            </a:pPr>
            <a:r>
              <a:rPr lang="en-US" sz="1400" dirty="0">
                <a:solidFill>
                  <a:schemeClr val="tx1"/>
                </a:solidFill>
              </a:rPr>
              <a:t>Sauvegarde toutes les 5 secondes : rien n'est perdu en cas de coupure</a:t>
            </a:r>
            <a:endParaRPr lang="en-US" sz="1400" dirty="0"/>
          </a:p>
          <a:p>
            <a:pPr marL="342900" indent="-342900">
              <a:spcAft>
                <a:spcPts val="600"/>
              </a:spcAft>
              <a:buSzPct val="100000"/>
              <a:buChar char="•"/>
            </a:pPr>
            <a:r>
              <a:rPr lang="en-US" sz="1400" dirty="0">
                <a:solidFill>
                  <a:schemeClr val="tx1"/>
                </a:solidFill>
              </a:rPr>
              <a:t>Messages clairs : micro refusé, absent, connexion perdue</a:t>
            </a:r>
            <a:endParaRPr lang="en-US" sz="1400" dirty="0"/>
          </a:p>
        </p:txBody>
      </p:sp>
      <p:sp>
        <p:nvSpPr>
          <p:cNvPr id="4" name="Cadre Enregistrement d'une réunion en cours"/>
          <p:cNvSpPr/>
          <p:nvPr/>
        </p:nvSpPr>
        <p:spPr>
          <a:xfrm>
            <a:off x="3803904" y="1426464"/>
            <a:ext cx="4919472" cy="1725179"/>
          </a:xfrm>
          <a:prstGeom prst="rect">
            <a:avLst/>
          </a:prstGeom>
          <a:solidFill>
            <a:srgbClr val="FFFFFF"/>
          </a:solidFill>
          <a:ln w="9525">
            <a:solidFill>
              <a:srgbClr val="C9D3CD"/>
            </a:solidFill>
            <a:prstDash val="solid"/>
          </a:ln>
          <a:effectLst>
            <a:outerShdw sx="100000" sy="100000" kx="0" ky="0" algn="bl" rotWithShape="0" blurRad="101600" dist="25400" dir="5400000">
              <a:srgbClr val="000000">
                <a:alpha val="18000"/>
              </a:srgbClr>
            </a:outerShdw>
          </a:effectLst>
        </p:spPr>
      </p:sp>
      <p:pic>
        <p:nvPicPr>
          <p:cNvPr id="5" name="Image 0" descr="Enregistrement d'une réunion en cours">    </p:cNvPr>
          <p:cNvPicPr>
            <a:picLocks noChangeAspect="1"/>
          </p:cNvPicPr>
          <p:nvPr/>
        </p:nvPicPr>
        <p:blipFill>
          <a:blip r:embed="rId1"/>
          <a:stretch>
            <a:fillRect/>
          </a:stretch>
        </p:blipFill>
        <p:spPr>
          <a:xfrm>
            <a:off x="3840480" y="1463040"/>
            <a:ext cx="4846320" cy="1652027"/>
          </a:xfrm>
          <a:prstGeom prst="rect">
            <a:avLst/>
          </a:prstGeom>
        </p:spPr>
      </p:pic>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Hors-sujet repéré en rouge, supprimé en un clic</a:t>
            </a:r>
            <a:endParaRPr lang="en-US" sz="2800" dirty="0"/>
          </a:p>
        </p:txBody>
      </p:sp>
      <p:sp>
        <p:nvSpPr>
          <p:cNvPr id="3" name="Texte"/>
          <p:cNvSpPr txBox="1"/>
          <p:nvPr/>
        </p:nvSpPr>
        <p:spPr>
          <a:xfrm>
            <a:off x="457200" y="1188720"/>
            <a:ext cx="3108960" cy="3383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Transcription automatique en français, arabe et autres langues</a:t>
            </a:r>
            <a:endParaRPr lang="en-US" sz="1400" dirty="0"/>
          </a:p>
          <a:p>
            <a:pPr marL="342900" indent="-342900">
              <a:spcAft>
                <a:spcPts val="600"/>
              </a:spcAft>
              <a:buSzPct val="100000"/>
              <a:buChar char="•"/>
            </a:pPr>
            <a:r>
              <a:rPr lang="en-US" sz="1400" dirty="0">
                <a:solidFill>
                  <a:schemeClr val="tx1"/>
                </a:solidFill>
              </a:rPr>
              <a:t>Texte entièrement corrigeable</a:t>
            </a:r>
            <a:endParaRPr lang="en-US" sz="1400" dirty="0"/>
          </a:p>
          <a:p>
            <a:pPr marL="342900" indent="-342900">
              <a:spcAft>
                <a:spcPts val="600"/>
              </a:spcAft>
              <a:buSzPct val="100000"/>
              <a:buChar char="•"/>
            </a:pPr>
            <a:r>
              <a:rPr lang="en-US" sz="1400" dirty="0">
                <a:solidFill>
                  <a:schemeClr val="tx1"/>
                </a:solidFill>
              </a:rPr>
              <a:t>L'IA repère les passages étrangers au sujet : ils passent en rouge</a:t>
            </a:r>
            <a:endParaRPr lang="en-US" sz="1400" dirty="0"/>
          </a:p>
          <a:p>
            <a:pPr marL="342900" indent="-342900">
              <a:spcAft>
                <a:spcPts val="600"/>
              </a:spcAft>
              <a:buSzPct val="100000"/>
              <a:buChar char="•"/>
            </a:pPr>
            <a:r>
              <a:rPr lang="en-US" sz="1400" dirty="0">
                <a:solidFill>
                  <a:schemeClr val="tx1"/>
                </a:solidFill>
              </a:rPr>
              <a:t>On décoche ce qu'on garde, on supprime le reste</a:t>
            </a:r>
            <a:endParaRPr lang="en-US" sz="1400" dirty="0"/>
          </a:p>
        </p:txBody>
      </p:sp>
      <p:sp>
        <p:nvSpPr>
          <p:cNvPr id="4" name="Cadre Passages hors sujet en rouge dans la transcription"/>
          <p:cNvSpPr/>
          <p:nvPr/>
        </p:nvSpPr>
        <p:spPr>
          <a:xfrm>
            <a:off x="3803904" y="1335024"/>
            <a:ext cx="4919472" cy="1917712"/>
          </a:xfrm>
          <a:prstGeom prst="rect">
            <a:avLst/>
          </a:prstGeom>
          <a:solidFill>
            <a:srgbClr val="FFFFFF"/>
          </a:solidFill>
          <a:ln w="9525">
            <a:solidFill>
              <a:srgbClr val="C9D3CD"/>
            </a:solidFill>
            <a:prstDash val="solid"/>
          </a:ln>
          <a:effectLst>
            <a:outerShdw sx="100000" sy="100000" kx="0" ky="0" algn="bl" rotWithShape="0" blurRad="101600" dist="25400" dir="5400000">
              <a:srgbClr val="000000">
                <a:alpha val="18000"/>
              </a:srgbClr>
            </a:outerShdw>
          </a:effectLst>
        </p:spPr>
      </p:sp>
      <p:pic>
        <p:nvPicPr>
          <p:cNvPr id="5" name="Image 0" descr="Passages hors sujet en rouge dans la transcription">    </p:cNvPr>
          <p:cNvPicPr>
            <a:picLocks noChangeAspect="1"/>
          </p:cNvPicPr>
          <p:nvPr/>
        </p:nvPicPr>
        <p:blipFill>
          <a:blip r:embed="rId1"/>
          <a:stretch>
            <a:fillRect/>
          </a:stretch>
        </p:blipFill>
        <p:spPr>
          <a:xfrm>
            <a:off x="3840480" y="1371600"/>
            <a:ext cx="4846320" cy="1844560"/>
          </a:xfrm>
          <a:prstGeom prst="rect">
            <a:avLst/>
          </a:prstGeom>
        </p:spPr>
      </p:pic>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Compte rendu structuré, en cinq formats</a:t>
            </a:r>
            <a:endParaRPr lang="en-US" sz="2800" dirty="0"/>
          </a:p>
        </p:txBody>
      </p:sp>
      <p:sp>
        <p:nvSpPr>
          <p:cNvPr id="3" name="Texte"/>
          <p:cNvSpPr txBox="1"/>
          <p:nvPr/>
        </p:nvSpPr>
        <p:spPr>
          <a:xfrm>
            <a:off x="457200" y="1188720"/>
            <a:ext cx="3200400" cy="33832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Objet, participants, points abordés, décisions, actions avec responsable et échéance, conclusion</a:t>
            </a:r>
            <a:endParaRPr lang="en-US" sz="1300" dirty="0"/>
          </a:p>
          <a:p>
            <a:pPr marL="342900" indent="-342900">
              <a:spcAft>
                <a:spcPts val="600"/>
              </a:spcAft>
              <a:buSzPct val="100000"/>
              <a:buChar char="•"/>
            </a:pPr>
            <a:r>
              <a:rPr lang="en-US" sz="1300" dirty="0">
                <a:solidFill>
                  <a:schemeClr val="tx1"/>
                </a:solidFill>
              </a:rPr>
              <a:t>Informations manquantes signalées</a:t>
            </a:r>
            <a:endParaRPr lang="en-US" sz="1300" dirty="0"/>
          </a:p>
          <a:p>
            <a:pPr marL="342900" indent="-342900">
              <a:spcAft>
                <a:spcPts val="600"/>
              </a:spcAft>
              <a:buSzPct val="100000"/>
              <a:buChar char="•"/>
            </a:pPr>
            <a:r>
              <a:rPr lang="en-US" sz="1300" dirty="0">
                <a:solidFill>
                  <a:schemeClr val="tx1"/>
                </a:solidFill>
              </a:rPr>
              <a:t>Compte rendu détaillé, résumé d'une page, décisions, tableau des actions, procès-verbal</a:t>
            </a:r>
            <a:endParaRPr lang="en-US" sz="1300" dirty="0"/>
          </a:p>
          <a:p>
            <a:pPr marL="342900" indent="-342900">
              <a:spcAft>
                <a:spcPts val="600"/>
              </a:spcAft>
              <a:buSzPct val="100000"/>
              <a:buChar char="•"/>
            </a:pPr>
            <a:r>
              <a:rPr lang="en-US" sz="1300" dirty="0">
                <a:solidFill>
                  <a:schemeClr val="tx1"/>
                </a:solidFill>
              </a:rPr>
              <a:t>Impression PDF, Word, partage par la messagerie</a:t>
            </a:r>
            <a:endParaRPr lang="en-US" sz="1300" dirty="0"/>
          </a:p>
        </p:txBody>
      </p:sp>
      <p:sp>
        <p:nvSpPr>
          <p:cNvPr id="4" name="Cadre Compte rendu détaillé validé"/>
          <p:cNvSpPr/>
          <p:nvPr/>
        </p:nvSpPr>
        <p:spPr>
          <a:xfrm>
            <a:off x="3803904" y="1014984"/>
            <a:ext cx="3090672" cy="2692527"/>
          </a:xfrm>
          <a:prstGeom prst="rect">
            <a:avLst/>
          </a:prstGeom>
          <a:solidFill>
            <a:srgbClr val="FFFFFF"/>
          </a:solidFill>
          <a:ln w="9525">
            <a:solidFill>
              <a:srgbClr val="C9D3CD"/>
            </a:solidFill>
            <a:prstDash val="solid"/>
          </a:ln>
          <a:effectLst>
            <a:outerShdw sx="100000" sy="100000" kx="0" ky="0" algn="bl" rotWithShape="0" blurRad="101600" dist="25400" dir="5400000">
              <a:srgbClr val="000000">
                <a:alpha val="18000"/>
              </a:srgbClr>
            </a:outerShdw>
          </a:effectLst>
        </p:spPr>
      </p:sp>
      <p:pic>
        <p:nvPicPr>
          <p:cNvPr id="5" name="Image 0" descr="Compte rendu détaillé validé">    </p:cNvPr>
          <p:cNvPicPr>
            <a:picLocks noChangeAspect="1"/>
          </p:cNvPicPr>
          <p:nvPr/>
        </p:nvPicPr>
        <p:blipFill>
          <a:blip r:embed="rId1"/>
          <a:stretch>
            <a:fillRect/>
          </a:stretch>
        </p:blipFill>
        <p:spPr>
          <a:xfrm>
            <a:off x="3840480" y="1051560"/>
            <a:ext cx="3017520" cy="2619375"/>
          </a:xfrm>
          <a:prstGeom prst="rect">
            <a:avLst/>
          </a:prstGeom>
        </p:spPr>
      </p:pic>
      <p:sp>
        <p:nvSpPr>
          <p:cNvPr id="6" name="Cadre Tableau des actions"/>
          <p:cNvSpPr/>
          <p:nvPr/>
        </p:nvSpPr>
        <p:spPr>
          <a:xfrm>
            <a:off x="6912864" y="1014984"/>
            <a:ext cx="1810512" cy="917702"/>
          </a:xfrm>
          <a:prstGeom prst="rect">
            <a:avLst/>
          </a:prstGeom>
          <a:solidFill>
            <a:srgbClr val="FFFFFF"/>
          </a:solidFill>
          <a:ln w="9525">
            <a:solidFill>
              <a:srgbClr val="C9D3CD"/>
            </a:solidFill>
            <a:prstDash val="solid"/>
          </a:ln>
          <a:effectLst>
            <a:outerShdw sx="100000" sy="100000" kx="0" ky="0" algn="bl" rotWithShape="0" blurRad="101600" dist="25400" dir="5400000">
              <a:srgbClr val="000000">
                <a:alpha val="18000"/>
              </a:srgbClr>
            </a:outerShdw>
          </a:effectLst>
        </p:spPr>
      </p:sp>
      <p:pic>
        <p:nvPicPr>
          <p:cNvPr id="7" name="Image 1" descr="Tableau des actions">    </p:cNvPr>
          <p:cNvPicPr>
            <a:picLocks noChangeAspect="1"/>
          </p:cNvPicPr>
          <p:nvPr/>
        </p:nvPicPr>
        <p:blipFill>
          <a:blip r:embed="rId2"/>
          <a:stretch>
            <a:fillRect/>
          </a:stretch>
        </p:blipFill>
        <p:spPr>
          <a:xfrm>
            <a:off x="6949440" y="1051560"/>
            <a:ext cx="1737360" cy="844550"/>
          </a:xfrm>
          <a:prstGeom prst="rect">
            <a:avLst/>
          </a:prstGeom>
        </p:spPr>
      </p:pic>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Confidentialité et conformité</a:t>
            </a:r>
            <a:endParaRPr lang="en-US" sz="2800" dirty="0"/>
          </a:p>
        </p:txBody>
      </p:sp>
      <p:sp>
        <p:nvSpPr>
          <p:cNvPr id="3" name="Garantie 1"/>
          <p:cNvSpPr/>
          <p:nvPr/>
        </p:nvSpPr>
        <p:spPr>
          <a:xfrm>
            <a:off x="457200" y="1188720"/>
            <a:ext cx="2606040" cy="1600200"/>
          </a:xfrm>
          <a:prstGeom prst="roundRect">
            <a:avLst>
              <a:gd name="adj" fmla="val 4571"/>
            </a:avLst>
          </a:prstGeom>
          <a:solidFill>
            <a:schemeClr val="bg2"/>
          </a:solidFill>
          <a:ln w="9525">
            <a:solidFill>
              <a:srgbClr val="DDE5E0"/>
            </a:solidFill>
            <a:prstDash val="solid"/>
          </a:ln>
        </p:spPr>
      </p:sp>
      <p:sp>
        <p:nvSpPr>
          <p:cNvPr id="4" name="Pastille garantie 1"/>
          <p:cNvSpPr/>
          <p:nvPr/>
        </p:nvSpPr>
        <p:spPr>
          <a:xfrm>
            <a:off x="621792" y="1353312"/>
            <a:ext cx="457200" cy="457200"/>
          </a:xfrm>
          <a:prstGeom prst="ellipse">
            <a:avLst/>
          </a:prstGeom>
          <a:solidFill>
            <a:schemeClr val="accent1"/>
          </a:solidFill>
          <a:ln/>
        </p:spPr>
      </p:sp>
      <p:pic>
        <p:nvPicPr>
          <p:cNvPr id="5" name="Image 0" descr="Consentement">    </p:cNvPr>
          <p:cNvPicPr>
            <a:picLocks noChangeAspect="1"/>
          </p:cNvPicPr>
          <p:nvPr/>
        </p:nvPicPr>
        <p:blipFill>
          <a:blip r:embed="rId1"/>
          <a:stretch>
            <a:fillRect/>
          </a:stretch>
        </p:blipFill>
        <p:spPr>
          <a:xfrm>
            <a:off x="722376" y="1453896"/>
            <a:ext cx="256032" cy="256032"/>
          </a:xfrm>
          <a:prstGeom prst="rect">
            <a:avLst/>
          </a:prstGeom>
        </p:spPr>
      </p:pic>
      <p:sp>
        <p:nvSpPr>
          <p:cNvPr id="6" name="Text 3"/>
          <p:cNvSpPr txBox="1"/>
          <p:nvPr/>
        </p:nvSpPr>
        <p:spPr>
          <a:xfrm>
            <a:off x="1188720" y="1353312"/>
            <a:ext cx="1737360" cy="457200"/>
          </a:xfrm>
          <a:prstGeom prst="rect">
            <a:avLst/>
          </a:prstGeom>
          <a:noFill/>
          <a:ln/>
        </p:spPr>
        <p:txBody>
          <a:bodyPr wrap="square" lIns="0" tIns="0" rIns="0" bIns="0" rtlCol="0" anchor="ctr"/>
          <a:lstStyle/>
          <a:p>
            <a:pPr indent="0" marL="0">
              <a:buNone/>
            </a:pPr>
            <a:r>
              <a:rPr lang="en-US" sz="1500" b="1" dirty="0">
                <a:solidFill>
                  <a:schemeClr val="tx1"/>
                </a:solidFill>
              </a:rPr>
              <a:t>Consentement</a:t>
            </a:r>
            <a:endParaRPr lang="en-US" sz="1500" dirty="0"/>
          </a:p>
        </p:txBody>
      </p:sp>
      <p:sp>
        <p:nvSpPr>
          <p:cNvPr id="7" name="Text 4"/>
          <p:cNvSpPr txBox="1"/>
          <p:nvPr/>
        </p:nvSpPr>
        <p:spPr>
          <a:xfrm>
            <a:off x="621792" y="1920240"/>
            <a:ext cx="2276856" cy="777240"/>
          </a:xfrm>
          <a:prstGeom prst="rect">
            <a:avLst/>
          </a:prstGeom>
          <a:noFill/>
          <a:ln/>
        </p:spPr>
        <p:txBody>
          <a:bodyPr wrap="square" lIns="0" tIns="0" rIns="0" bIns="0" rtlCol="0" anchor="t"/>
          <a:lstStyle/>
          <a:p>
            <a:pPr indent="0" marL="0">
              <a:buNone/>
            </a:pPr>
            <a:r>
              <a:rPr lang="en-US" sz="1200" dirty="0">
                <a:solidFill>
                  <a:schemeClr val="tx2"/>
                </a:solidFill>
              </a:rPr>
              <a:t>Chaque participant informé et coché avant tout enregistrement</a:t>
            </a:r>
            <a:endParaRPr lang="en-US" sz="1200" dirty="0"/>
          </a:p>
        </p:txBody>
      </p:sp>
      <p:sp>
        <p:nvSpPr>
          <p:cNvPr id="8" name="Garantie 2"/>
          <p:cNvSpPr/>
          <p:nvPr/>
        </p:nvSpPr>
        <p:spPr>
          <a:xfrm>
            <a:off x="3268980" y="1188720"/>
            <a:ext cx="2606040" cy="1600200"/>
          </a:xfrm>
          <a:prstGeom prst="roundRect">
            <a:avLst>
              <a:gd name="adj" fmla="val 4571"/>
            </a:avLst>
          </a:prstGeom>
          <a:solidFill>
            <a:schemeClr val="bg2"/>
          </a:solidFill>
          <a:ln w="9525">
            <a:solidFill>
              <a:srgbClr val="DDE5E0"/>
            </a:solidFill>
            <a:prstDash val="solid"/>
          </a:ln>
        </p:spPr>
      </p:sp>
      <p:sp>
        <p:nvSpPr>
          <p:cNvPr id="9" name="Pastille garantie 2"/>
          <p:cNvSpPr/>
          <p:nvPr/>
        </p:nvSpPr>
        <p:spPr>
          <a:xfrm>
            <a:off x="3433572" y="1353312"/>
            <a:ext cx="457200" cy="457200"/>
          </a:xfrm>
          <a:prstGeom prst="ellipse">
            <a:avLst/>
          </a:prstGeom>
          <a:solidFill>
            <a:schemeClr val="accent1"/>
          </a:solidFill>
          <a:ln/>
        </p:spPr>
      </p:sp>
      <p:pic>
        <p:nvPicPr>
          <p:cNvPr id="10" name="Image 1" descr="Accès restreint">    </p:cNvPr>
          <p:cNvPicPr>
            <a:picLocks noChangeAspect="1"/>
          </p:cNvPicPr>
          <p:nvPr/>
        </p:nvPicPr>
        <p:blipFill>
          <a:blip r:embed="rId2"/>
          <a:stretch>
            <a:fillRect/>
          </a:stretch>
        </p:blipFill>
        <p:spPr>
          <a:xfrm>
            <a:off x="3534156" y="1453896"/>
            <a:ext cx="256032" cy="256032"/>
          </a:xfrm>
          <a:prstGeom prst="rect">
            <a:avLst/>
          </a:prstGeom>
        </p:spPr>
      </p:pic>
      <p:sp>
        <p:nvSpPr>
          <p:cNvPr id="11" name="Text 7"/>
          <p:cNvSpPr txBox="1"/>
          <p:nvPr/>
        </p:nvSpPr>
        <p:spPr>
          <a:xfrm>
            <a:off x="4000500" y="1353312"/>
            <a:ext cx="1737360" cy="457200"/>
          </a:xfrm>
          <a:prstGeom prst="rect">
            <a:avLst/>
          </a:prstGeom>
          <a:noFill/>
          <a:ln/>
        </p:spPr>
        <p:txBody>
          <a:bodyPr wrap="square" lIns="0" tIns="0" rIns="0" bIns="0" rtlCol="0" anchor="ctr"/>
          <a:lstStyle/>
          <a:p>
            <a:pPr indent="0" marL="0">
              <a:buNone/>
            </a:pPr>
            <a:r>
              <a:rPr lang="en-US" sz="1500" b="1" dirty="0">
                <a:solidFill>
                  <a:schemeClr val="tx1"/>
                </a:solidFill>
              </a:rPr>
              <a:t>Accès restreint</a:t>
            </a:r>
            <a:endParaRPr lang="en-US" sz="1500" dirty="0"/>
          </a:p>
        </p:txBody>
      </p:sp>
      <p:sp>
        <p:nvSpPr>
          <p:cNvPr id="12" name="Text 8"/>
          <p:cNvSpPr txBox="1"/>
          <p:nvPr/>
        </p:nvSpPr>
        <p:spPr>
          <a:xfrm>
            <a:off x="3433572" y="1920240"/>
            <a:ext cx="2276856" cy="777240"/>
          </a:xfrm>
          <a:prstGeom prst="rect">
            <a:avLst/>
          </a:prstGeom>
          <a:noFill/>
          <a:ln/>
        </p:spPr>
        <p:txBody>
          <a:bodyPr wrap="square" lIns="0" tIns="0" rIns="0" bIns="0" rtlCol="0" anchor="t"/>
          <a:lstStyle/>
          <a:p>
            <a:pPr indent="0" marL="0">
              <a:buNone/>
            </a:pPr>
            <a:r>
              <a:rPr lang="en-US" sz="1200" dirty="0">
                <a:solidFill>
                  <a:schemeClr val="tx2"/>
                </a:solidFill>
              </a:rPr>
              <a:t>Chef d'établissement, direction, CPE ; consultations journalisées</a:t>
            </a:r>
            <a:endParaRPr lang="en-US" sz="1200" dirty="0"/>
          </a:p>
        </p:txBody>
      </p:sp>
      <p:sp>
        <p:nvSpPr>
          <p:cNvPr id="13" name="Garantie 3"/>
          <p:cNvSpPr/>
          <p:nvPr/>
        </p:nvSpPr>
        <p:spPr>
          <a:xfrm>
            <a:off x="6080760" y="1188720"/>
            <a:ext cx="2606040" cy="1600200"/>
          </a:xfrm>
          <a:prstGeom prst="roundRect">
            <a:avLst>
              <a:gd name="adj" fmla="val 4571"/>
            </a:avLst>
          </a:prstGeom>
          <a:solidFill>
            <a:schemeClr val="bg2"/>
          </a:solidFill>
          <a:ln w="9525">
            <a:solidFill>
              <a:srgbClr val="DDE5E0"/>
            </a:solidFill>
            <a:prstDash val="solid"/>
          </a:ln>
        </p:spPr>
      </p:sp>
      <p:sp>
        <p:nvSpPr>
          <p:cNvPr id="14" name="Pastille garantie 3"/>
          <p:cNvSpPr/>
          <p:nvPr/>
        </p:nvSpPr>
        <p:spPr>
          <a:xfrm>
            <a:off x="6245352" y="1353312"/>
            <a:ext cx="457200" cy="457200"/>
          </a:xfrm>
          <a:prstGeom prst="ellipse">
            <a:avLst/>
          </a:prstGeom>
          <a:solidFill>
            <a:schemeClr val="accent1"/>
          </a:solidFill>
          <a:ln/>
        </p:spPr>
      </p:sp>
      <p:pic>
        <p:nvPicPr>
          <p:cNvPr id="15" name="Image 2" descr="Conservation limitée">    </p:cNvPr>
          <p:cNvPicPr>
            <a:picLocks noChangeAspect="1"/>
          </p:cNvPicPr>
          <p:nvPr/>
        </p:nvPicPr>
        <p:blipFill>
          <a:blip r:embed="rId3"/>
          <a:stretch>
            <a:fillRect/>
          </a:stretch>
        </p:blipFill>
        <p:spPr>
          <a:xfrm>
            <a:off x="6345936" y="1453896"/>
            <a:ext cx="256032" cy="256032"/>
          </a:xfrm>
          <a:prstGeom prst="rect">
            <a:avLst/>
          </a:prstGeom>
        </p:spPr>
      </p:pic>
      <p:sp>
        <p:nvSpPr>
          <p:cNvPr id="16" name="Text 11"/>
          <p:cNvSpPr txBox="1"/>
          <p:nvPr/>
        </p:nvSpPr>
        <p:spPr>
          <a:xfrm>
            <a:off x="6812280" y="1353312"/>
            <a:ext cx="1737360" cy="457200"/>
          </a:xfrm>
          <a:prstGeom prst="rect">
            <a:avLst/>
          </a:prstGeom>
          <a:noFill/>
          <a:ln/>
        </p:spPr>
        <p:txBody>
          <a:bodyPr wrap="square" lIns="0" tIns="0" rIns="0" bIns="0" rtlCol="0" anchor="ctr"/>
          <a:lstStyle/>
          <a:p>
            <a:pPr indent="0" marL="0">
              <a:buNone/>
            </a:pPr>
            <a:r>
              <a:rPr lang="en-US" sz="1500" b="1" dirty="0">
                <a:solidFill>
                  <a:schemeClr val="tx1"/>
                </a:solidFill>
              </a:rPr>
              <a:t>Conservation limitée</a:t>
            </a:r>
            <a:endParaRPr lang="en-US" sz="1500" dirty="0"/>
          </a:p>
        </p:txBody>
      </p:sp>
      <p:sp>
        <p:nvSpPr>
          <p:cNvPr id="17" name="Text 12"/>
          <p:cNvSpPr txBox="1"/>
          <p:nvPr/>
        </p:nvSpPr>
        <p:spPr>
          <a:xfrm>
            <a:off x="6245352" y="1920240"/>
            <a:ext cx="2276856" cy="777240"/>
          </a:xfrm>
          <a:prstGeom prst="rect">
            <a:avLst/>
          </a:prstGeom>
          <a:noFill/>
          <a:ln/>
        </p:spPr>
        <p:txBody>
          <a:bodyPr wrap="square" lIns="0" tIns="0" rIns="0" bIns="0" rtlCol="0" anchor="t"/>
          <a:lstStyle/>
          <a:p>
            <a:pPr indent="0" marL="0">
              <a:buNone/>
            </a:pPr>
            <a:r>
              <a:rPr lang="en-US" sz="1200" dirty="0">
                <a:solidFill>
                  <a:schemeClr val="tx2"/>
                </a:solidFill>
              </a:rPr>
              <a:t>Audio supprimé après 30 jours, réunion après 3 ans (réglable)</a:t>
            </a:r>
            <a:endParaRPr lang="en-US" sz="1200" dirty="0"/>
          </a:p>
        </p:txBody>
      </p:sp>
      <p:sp>
        <p:nvSpPr>
          <p:cNvPr id="18" name="Garantie 4"/>
          <p:cNvSpPr/>
          <p:nvPr/>
        </p:nvSpPr>
        <p:spPr>
          <a:xfrm>
            <a:off x="457200" y="2971800"/>
            <a:ext cx="2606040" cy="1600200"/>
          </a:xfrm>
          <a:prstGeom prst="roundRect">
            <a:avLst>
              <a:gd name="adj" fmla="val 4571"/>
            </a:avLst>
          </a:prstGeom>
          <a:solidFill>
            <a:schemeClr val="bg2"/>
          </a:solidFill>
          <a:ln w="9525">
            <a:solidFill>
              <a:srgbClr val="DDE5E0"/>
            </a:solidFill>
            <a:prstDash val="solid"/>
          </a:ln>
        </p:spPr>
      </p:sp>
      <p:sp>
        <p:nvSpPr>
          <p:cNvPr id="19" name="Pastille garantie 4"/>
          <p:cNvSpPr/>
          <p:nvPr/>
        </p:nvSpPr>
        <p:spPr>
          <a:xfrm>
            <a:off x="621792" y="3136392"/>
            <a:ext cx="457200" cy="457200"/>
          </a:xfrm>
          <a:prstGeom prst="ellipse">
            <a:avLst/>
          </a:prstGeom>
          <a:solidFill>
            <a:schemeClr val="accent1"/>
          </a:solidFill>
          <a:ln/>
        </p:spPr>
      </p:sp>
      <p:pic>
        <p:nvPicPr>
          <p:cNvPr id="20" name="Image 3" descr="Suppression">    </p:cNvPr>
          <p:cNvPicPr>
            <a:picLocks noChangeAspect="1"/>
          </p:cNvPicPr>
          <p:nvPr/>
        </p:nvPicPr>
        <p:blipFill>
          <a:blip r:embed="rId4"/>
          <a:stretch>
            <a:fillRect/>
          </a:stretch>
        </p:blipFill>
        <p:spPr>
          <a:xfrm>
            <a:off x="722376" y="3236976"/>
            <a:ext cx="256032" cy="256032"/>
          </a:xfrm>
          <a:prstGeom prst="rect">
            <a:avLst/>
          </a:prstGeom>
        </p:spPr>
      </p:pic>
      <p:sp>
        <p:nvSpPr>
          <p:cNvPr id="21" name="Text 15"/>
          <p:cNvSpPr txBox="1"/>
          <p:nvPr/>
        </p:nvSpPr>
        <p:spPr>
          <a:xfrm>
            <a:off x="1188720" y="3136392"/>
            <a:ext cx="1737360" cy="457200"/>
          </a:xfrm>
          <a:prstGeom prst="rect">
            <a:avLst/>
          </a:prstGeom>
          <a:noFill/>
          <a:ln/>
        </p:spPr>
        <p:txBody>
          <a:bodyPr wrap="square" lIns="0" tIns="0" rIns="0" bIns="0" rtlCol="0" anchor="ctr"/>
          <a:lstStyle/>
          <a:p>
            <a:pPr indent="0" marL="0">
              <a:buNone/>
            </a:pPr>
            <a:r>
              <a:rPr lang="en-US" sz="1500" b="1" dirty="0">
                <a:solidFill>
                  <a:schemeClr val="tx1"/>
                </a:solidFill>
              </a:rPr>
              <a:t>Suppression</a:t>
            </a:r>
            <a:endParaRPr lang="en-US" sz="1500" dirty="0"/>
          </a:p>
        </p:txBody>
      </p:sp>
      <p:sp>
        <p:nvSpPr>
          <p:cNvPr id="22" name="Text 16"/>
          <p:cNvSpPr txBox="1"/>
          <p:nvPr/>
        </p:nvSpPr>
        <p:spPr>
          <a:xfrm>
            <a:off x="621792" y="3703320"/>
            <a:ext cx="2276856" cy="777240"/>
          </a:xfrm>
          <a:prstGeom prst="rect">
            <a:avLst/>
          </a:prstGeom>
          <a:noFill/>
          <a:ln/>
        </p:spPr>
        <p:txBody>
          <a:bodyPr wrap="square" lIns="0" tIns="0" rIns="0" bIns="0" rtlCol="0" anchor="t"/>
          <a:lstStyle/>
          <a:p>
            <a:pPr indent="0" marL="0">
              <a:buNone/>
            </a:pPr>
            <a:r>
              <a:rPr lang="en-US" sz="1200" dirty="0">
                <a:solidFill>
                  <a:schemeClr val="tx2"/>
                </a:solidFill>
              </a:rPr>
              <a:t>À tout moment : audio seul ou réunion entière</a:t>
            </a:r>
            <a:endParaRPr lang="en-US" sz="1200" dirty="0"/>
          </a:p>
        </p:txBody>
      </p:sp>
      <p:sp>
        <p:nvSpPr>
          <p:cNvPr id="23" name="Garantie 5"/>
          <p:cNvSpPr/>
          <p:nvPr/>
        </p:nvSpPr>
        <p:spPr>
          <a:xfrm>
            <a:off x="3268980" y="2971800"/>
            <a:ext cx="2606040" cy="1600200"/>
          </a:xfrm>
          <a:prstGeom prst="roundRect">
            <a:avLst>
              <a:gd name="adj" fmla="val 4571"/>
            </a:avLst>
          </a:prstGeom>
          <a:solidFill>
            <a:schemeClr val="bg2"/>
          </a:solidFill>
          <a:ln w="9525">
            <a:solidFill>
              <a:srgbClr val="DDE5E0"/>
            </a:solidFill>
            <a:prstDash val="solid"/>
          </a:ln>
        </p:spPr>
      </p:sp>
      <p:sp>
        <p:nvSpPr>
          <p:cNvPr id="24" name="Pastille garantie 5"/>
          <p:cNvSpPr/>
          <p:nvPr/>
        </p:nvSpPr>
        <p:spPr>
          <a:xfrm>
            <a:off x="3433572" y="3136392"/>
            <a:ext cx="457200" cy="457200"/>
          </a:xfrm>
          <a:prstGeom prst="ellipse">
            <a:avLst/>
          </a:prstGeom>
          <a:solidFill>
            <a:schemeClr val="accent1"/>
          </a:solidFill>
          <a:ln/>
        </p:spPr>
      </p:sp>
      <p:pic>
        <p:nvPicPr>
          <p:cNvPr id="25" name="Image 4" descr="Journal d'audit">    </p:cNvPr>
          <p:cNvPicPr>
            <a:picLocks noChangeAspect="1"/>
          </p:cNvPicPr>
          <p:nvPr/>
        </p:nvPicPr>
        <p:blipFill>
          <a:blip r:embed="rId5"/>
          <a:stretch>
            <a:fillRect/>
          </a:stretch>
        </p:blipFill>
        <p:spPr>
          <a:xfrm>
            <a:off x="3534156" y="3236976"/>
            <a:ext cx="256032" cy="256032"/>
          </a:xfrm>
          <a:prstGeom prst="rect">
            <a:avLst/>
          </a:prstGeom>
        </p:spPr>
      </p:pic>
      <p:sp>
        <p:nvSpPr>
          <p:cNvPr id="26" name="Text 19"/>
          <p:cNvSpPr txBox="1"/>
          <p:nvPr/>
        </p:nvSpPr>
        <p:spPr>
          <a:xfrm>
            <a:off x="4000500" y="3136392"/>
            <a:ext cx="1737360" cy="457200"/>
          </a:xfrm>
          <a:prstGeom prst="rect">
            <a:avLst/>
          </a:prstGeom>
          <a:noFill/>
          <a:ln/>
        </p:spPr>
        <p:txBody>
          <a:bodyPr wrap="square" lIns="0" tIns="0" rIns="0" bIns="0" rtlCol="0" anchor="ctr"/>
          <a:lstStyle/>
          <a:p>
            <a:pPr indent="0" marL="0">
              <a:buNone/>
            </a:pPr>
            <a:r>
              <a:rPr lang="en-US" sz="1500" b="1" dirty="0">
                <a:solidFill>
                  <a:schemeClr val="tx1"/>
                </a:solidFill>
              </a:rPr>
              <a:t>Journal d'audit</a:t>
            </a:r>
            <a:endParaRPr lang="en-US" sz="1500" dirty="0"/>
          </a:p>
        </p:txBody>
      </p:sp>
      <p:sp>
        <p:nvSpPr>
          <p:cNvPr id="27" name="Text 20"/>
          <p:cNvSpPr txBox="1"/>
          <p:nvPr/>
        </p:nvSpPr>
        <p:spPr>
          <a:xfrm>
            <a:off x="3433572" y="3703320"/>
            <a:ext cx="2276856" cy="777240"/>
          </a:xfrm>
          <a:prstGeom prst="rect">
            <a:avLst/>
          </a:prstGeom>
          <a:noFill/>
          <a:ln/>
        </p:spPr>
        <p:txBody>
          <a:bodyPr wrap="square" lIns="0" tIns="0" rIns="0" bIns="0" rtlCol="0" anchor="t"/>
          <a:lstStyle/>
          <a:p>
            <a:pPr indent="0" marL="0">
              <a:buNone/>
            </a:pPr>
            <a:r>
              <a:rPr lang="en-US" sz="1200" dirty="0">
                <a:solidFill>
                  <a:schemeClr val="tx2"/>
                </a:solidFill>
              </a:rPr>
              <a:t>Chaque action sensible est tracée</a:t>
            </a:r>
            <a:endParaRPr lang="en-US" sz="1200" dirty="0"/>
          </a:p>
        </p:txBody>
      </p:sp>
      <p:sp>
        <p:nvSpPr>
          <p:cNvPr id="28" name="Garantie 6"/>
          <p:cNvSpPr/>
          <p:nvPr/>
        </p:nvSpPr>
        <p:spPr>
          <a:xfrm>
            <a:off x="6080760" y="2971800"/>
            <a:ext cx="2606040" cy="1600200"/>
          </a:xfrm>
          <a:prstGeom prst="roundRect">
            <a:avLst>
              <a:gd name="adj" fmla="val 4571"/>
            </a:avLst>
          </a:prstGeom>
          <a:solidFill>
            <a:schemeClr val="bg2"/>
          </a:solidFill>
          <a:ln w="9525">
            <a:solidFill>
              <a:srgbClr val="DDE5E0"/>
            </a:solidFill>
            <a:prstDash val="solid"/>
          </a:ln>
        </p:spPr>
      </p:sp>
      <p:sp>
        <p:nvSpPr>
          <p:cNvPr id="29" name="Pastille garantie 6"/>
          <p:cNvSpPr/>
          <p:nvPr/>
        </p:nvSpPr>
        <p:spPr>
          <a:xfrm>
            <a:off x="6245352" y="3136392"/>
            <a:ext cx="457200" cy="457200"/>
          </a:xfrm>
          <a:prstGeom prst="ellipse">
            <a:avLst/>
          </a:prstGeom>
          <a:solidFill>
            <a:schemeClr val="accent1"/>
          </a:solidFill>
          <a:ln/>
        </p:spPr>
      </p:sp>
      <p:pic>
        <p:nvPicPr>
          <p:cNvPr id="30" name="Image 5" descr="IA sous contrôle">    </p:cNvPr>
          <p:cNvPicPr>
            <a:picLocks noChangeAspect="1"/>
          </p:cNvPicPr>
          <p:nvPr/>
        </p:nvPicPr>
        <p:blipFill>
          <a:blip r:embed="rId6"/>
          <a:stretch>
            <a:fillRect/>
          </a:stretch>
        </p:blipFill>
        <p:spPr>
          <a:xfrm>
            <a:off x="6345936" y="3236976"/>
            <a:ext cx="256032" cy="256032"/>
          </a:xfrm>
          <a:prstGeom prst="rect">
            <a:avLst/>
          </a:prstGeom>
        </p:spPr>
      </p:pic>
      <p:sp>
        <p:nvSpPr>
          <p:cNvPr id="31" name="Text 23"/>
          <p:cNvSpPr txBox="1"/>
          <p:nvPr/>
        </p:nvSpPr>
        <p:spPr>
          <a:xfrm>
            <a:off x="6812280" y="3136392"/>
            <a:ext cx="1737360" cy="457200"/>
          </a:xfrm>
          <a:prstGeom prst="rect">
            <a:avLst/>
          </a:prstGeom>
          <a:noFill/>
          <a:ln/>
        </p:spPr>
        <p:txBody>
          <a:bodyPr wrap="square" lIns="0" tIns="0" rIns="0" bIns="0" rtlCol="0" anchor="ctr"/>
          <a:lstStyle/>
          <a:p>
            <a:pPr indent="0" marL="0">
              <a:buNone/>
            </a:pPr>
            <a:r>
              <a:rPr lang="en-US" sz="1500" b="1" dirty="0">
                <a:solidFill>
                  <a:schemeClr val="tx1"/>
                </a:solidFill>
              </a:rPr>
              <a:t>IA sous contrôle</a:t>
            </a:r>
            <a:endParaRPr lang="en-US" sz="1500" dirty="0"/>
          </a:p>
        </p:txBody>
      </p:sp>
      <p:sp>
        <p:nvSpPr>
          <p:cNvPr id="32" name="Text 24"/>
          <p:cNvSpPr txBox="1"/>
          <p:nvPr/>
        </p:nvSpPr>
        <p:spPr>
          <a:xfrm>
            <a:off x="6245352" y="3703320"/>
            <a:ext cx="2276856" cy="777240"/>
          </a:xfrm>
          <a:prstGeom prst="rect">
            <a:avLst/>
          </a:prstGeom>
          <a:noFill/>
          <a:ln/>
        </p:spPr>
        <p:txBody>
          <a:bodyPr wrap="square" lIns="0" tIns="0" rIns="0" bIns="0" rtlCol="0" anchor="t"/>
          <a:lstStyle/>
          <a:p>
            <a:pPr indent="0" marL="0">
              <a:buNone/>
            </a:pPr>
            <a:r>
              <a:rPr lang="en-US" sz="1200" dirty="0">
                <a:solidFill>
                  <a:schemeClr val="tx2"/>
                </a:solidFill>
              </a:rPr>
              <a:t>Brouillon relu et validé ; aucune clé, aucun envoi</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Plusieurs établissements, des données cloisonnées</a:t>
            </a:r>
            <a:endParaRPr lang="en-US" sz="2800" dirty="0"/>
          </a:p>
        </p:txBody>
      </p:sp>
      <p:sp>
        <p:nvSpPr>
          <p:cNvPr id="3" name="Texte"/>
          <p:cNvSpPr txBox="1"/>
          <p:nvPr/>
        </p:nvSpPr>
        <p:spPr>
          <a:xfrm>
            <a:off x="457200" y="1188720"/>
            <a:ext cx="3200400" cy="3383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Collège, lycée ou groupe scolaire dans une même application</a:t>
            </a:r>
            <a:endParaRPr lang="en-US" sz="1400" dirty="0"/>
          </a:p>
          <a:p>
            <a:pPr marL="342900" indent="-342900">
              <a:spcAft>
                <a:spcPts val="600"/>
              </a:spcAft>
              <a:buSzPct val="100000"/>
              <a:buChar char="•"/>
            </a:pPr>
            <a:r>
              <a:rPr lang="en-US" sz="1400" dirty="0">
                <a:solidFill>
                  <a:schemeClr val="tx1"/>
                </a:solidFill>
              </a:rPr>
              <a:t>Chaque établissement a ses propres données et réglages</a:t>
            </a:r>
            <a:endParaRPr lang="en-US" sz="1400" dirty="0"/>
          </a:p>
          <a:p>
            <a:pPr marL="342900" indent="-342900">
              <a:spcAft>
                <a:spcPts val="600"/>
              </a:spcAft>
              <a:buSzPct val="100000"/>
              <a:buChar char="•"/>
            </a:pPr>
            <a:r>
              <a:rPr lang="en-US" sz="1400" dirty="0">
                <a:solidFill>
                  <a:schemeClr val="tx1"/>
                </a:solidFill>
              </a:rPr>
              <a:t>L'administrateur ajoute, renomme ou supprime un établissement</a:t>
            </a:r>
            <a:endParaRPr lang="en-US" sz="1400" dirty="0"/>
          </a:p>
          <a:p>
            <a:pPr marL="342900" indent="-342900">
              <a:spcAft>
                <a:spcPts val="600"/>
              </a:spcAft>
              <a:buSzPct val="100000"/>
              <a:buChar char="•"/>
            </a:pPr>
            <a:r>
              <a:rPr lang="en-US" sz="1400" dirty="0">
                <a:solidFill>
                  <a:schemeClr val="tx1"/>
                </a:solidFill>
              </a:rPr>
              <a:t>Rôles : administrateur, direction, CPE, enseignant, infirmier</a:t>
            </a:r>
            <a:endParaRPr lang="en-US" sz="1400" dirty="0"/>
          </a:p>
          <a:p>
            <a:pPr marL="342900" indent="-342900">
              <a:spcAft>
                <a:spcPts val="600"/>
              </a:spcAft>
              <a:buSzPct val="100000"/>
              <a:buChar char="•"/>
            </a:pPr>
            <a:r>
              <a:rPr lang="en-US" sz="1400" dirty="0">
                <a:solidFill>
                  <a:schemeClr val="tx1"/>
                </a:solidFill>
              </a:rPr>
              <a:t>Double authentification, journal d'audit, RGPD, sauvegarde</a:t>
            </a:r>
            <a:endParaRPr lang="en-US" sz="1400" dirty="0"/>
          </a:p>
        </p:txBody>
      </p:sp>
      <p:sp>
        <p:nvSpPr>
          <p:cNvPr id="4" name="Cadre Gestion des établissements par l'administrateur"/>
          <p:cNvSpPr/>
          <p:nvPr/>
        </p:nvSpPr>
        <p:spPr>
          <a:xfrm>
            <a:off x="3803904" y="1197864"/>
            <a:ext cx="4919472" cy="3102102"/>
          </a:xfrm>
          <a:prstGeom prst="rect">
            <a:avLst/>
          </a:prstGeom>
          <a:solidFill>
            <a:srgbClr val="FFFFFF"/>
          </a:solidFill>
          <a:ln w="9525">
            <a:solidFill>
              <a:srgbClr val="C9D3CD"/>
            </a:solidFill>
            <a:prstDash val="solid"/>
          </a:ln>
          <a:effectLst>
            <a:outerShdw sx="100000" sy="100000" kx="0" ky="0" algn="bl" rotWithShape="0" blurRad="101600" dist="25400" dir="5400000">
              <a:srgbClr val="000000">
                <a:alpha val="18000"/>
              </a:srgbClr>
            </a:outerShdw>
          </a:effectLst>
        </p:spPr>
      </p:sp>
      <p:pic>
        <p:nvPicPr>
          <p:cNvPr id="5" name="Image 0" descr="Gestion des établissements par l'administrateur">    </p:cNvPr>
          <p:cNvPicPr>
            <a:picLocks noChangeAspect="1"/>
          </p:cNvPicPr>
          <p:nvPr/>
        </p:nvPicPr>
        <p:blipFill>
          <a:blip r:embed="rId1"/>
          <a:stretch>
            <a:fillRect/>
          </a:stretch>
        </p:blipFill>
        <p:spPr>
          <a:xfrm>
            <a:off x="3840480" y="1234440"/>
            <a:ext cx="4846320" cy="3028950"/>
          </a:xfrm>
          <a:prstGeom prst="rect">
            <a:avLst/>
          </a:prstGeom>
        </p:spPr>
      </p:pic>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Une charte graphique sobre et accessible</a:t>
            </a:r>
            <a:endParaRPr lang="en-US" sz="2800" dirty="0"/>
          </a:p>
        </p:txBody>
      </p:sp>
      <p:sp>
        <p:nvSpPr>
          <p:cNvPr id="3" name="Couleur Sapin"/>
          <p:cNvSpPr/>
          <p:nvPr/>
        </p:nvSpPr>
        <p:spPr>
          <a:xfrm>
            <a:off x="457200" y="1188720"/>
            <a:ext cx="1463040" cy="1005840"/>
          </a:xfrm>
          <a:prstGeom prst="roundRect">
            <a:avLst>
              <a:gd name="adj" fmla="val 7273"/>
            </a:avLst>
          </a:prstGeom>
          <a:solidFill>
            <a:srgbClr val="3B6256"/>
          </a:solidFill>
          <a:ln w="9525">
            <a:solidFill>
              <a:srgbClr val="C9D3CD"/>
            </a:solidFill>
            <a:prstDash val="solid"/>
          </a:ln>
        </p:spPr>
      </p:sp>
      <p:sp>
        <p:nvSpPr>
          <p:cNvPr id="4" name="Text 2"/>
          <p:cNvSpPr txBox="1"/>
          <p:nvPr/>
        </p:nvSpPr>
        <p:spPr>
          <a:xfrm>
            <a:off x="457200" y="1188720"/>
            <a:ext cx="1463040" cy="640080"/>
          </a:xfrm>
          <a:prstGeom prst="rect">
            <a:avLst/>
          </a:prstGeom>
          <a:noFill/>
          <a:ln/>
        </p:spPr>
        <p:txBody>
          <a:bodyPr wrap="square" lIns="0" tIns="0" rIns="0" bIns="0" rtlCol="0" anchor="ctr"/>
          <a:lstStyle/>
          <a:p>
            <a:pPr algn="ctr" indent="0" marL="0">
              <a:buNone/>
            </a:pPr>
            <a:r>
              <a:rPr lang="en-US" sz="1400" b="1" dirty="0">
                <a:solidFill>
                  <a:srgbClr val="FFFFFF"/>
                </a:solidFill>
              </a:rPr>
              <a:t>Sapin</a:t>
            </a:r>
            <a:endParaRPr lang="en-US" sz="1400" dirty="0"/>
          </a:p>
        </p:txBody>
      </p:sp>
      <p:sp>
        <p:nvSpPr>
          <p:cNvPr id="5" name="Text 3"/>
          <p:cNvSpPr txBox="1"/>
          <p:nvPr/>
        </p:nvSpPr>
        <p:spPr>
          <a:xfrm>
            <a:off x="457200" y="1737360"/>
            <a:ext cx="1463040" cy="365760"/>
          </a:xfrm>
          <a:prstGeom prst="rect">
            <a:avLst/>
          </a:prstGeom>
          <a:noFill/>
          <a:ln/>
        </p:spPr>
        <p:txBody>
          <a:bodyPr wrap="square" lIns="0" tIns="0" rIns="0" bIns="0" rtlCol="0" anchor="t"/>
          <a:lstStyle/>
          <a:p>
            <a:pPr algn="ctr" indent="0" marL="0">
              <a:buNone/>
            </a:pPr>
            <a:r>
              <a:rPr lang="en-US" sz="1100" dirty="0">
                <a:solidFill>
                  <a:srgbClr val="FFFFFF"/>
                </a:solidFill>
              </a:rPr>
              <a:t>#3B6256</a:t>
            </a:r>
            <a:endParaRPr lang="en-US" sz="1100" dirty="0"/>
          </a:p>
        </p:txBody>
      </p:sp>
      <p:sp>
        <p:nvSpPr>
          <p:cNvPr id="6" name="Couleur Ambre"/>
          <p:cNvSpPr/>
          <p:nvPr/>
        </p:nvSpPr>
        <p:spPr>
          <a:xfrm>
            <a:off x="2084832" y="1188720"/>
            <a:ext cx="1463040" cy="1005840"/>
          </a:xfrm>
          <a:prstGeom prst="roundRect">
            <a:avLst>
              <a:gd name="adj" fmla="val 7273"/>
            </a:avLst>
          </a:prstGeom>
          <a:solidFill>
            <a:srgbClr val="B4571B"/>
          </a:solidFill>
          <a:ln w="9525">
            <a:solidFill>
              <a:srgbClr val="C9D3CD"/>
            </a:solidFill>
            <a:prstDash val="solid"/>
          </a:ln>
        </p:spPr>
      </p:sp>
      <p:sp>
        <p:nvSpPr>
          <p:cNvPr id="7" name="Text 5"/>
          <p:cNvSpPr txBox="1"/>
          <p:nvPr/>
        </p:nvSpPr>
        <p:spPr>
          <a:xfrm>
            <a:off x="2084832" y="1188720"/>
            <a:ext cx="1463040" cy="640080"/>
          </a:xfrm>
          <a:prstGeom prst="rect">
            <a:avLst/>
          </a:prstGeom>
          <a:noFill/>
          <a:ln/>
        </p:spPr>
        <p:txBody>
          <a:bodyPr wrap="square" lIns="0" tIns="0" rIns="0" bIns="0" rtlCol="0" anchor="ctr"/>
          <a:lstStyle/>
          <a:p>
            <a:pPr algn="ctr" indent="0" marL="0">
              <a:buNone/>
            </a:pPr>
            <a:r>
              <a:rPr lang="en-US" sz="1400" b="1" dirty="0">
                <a:solidFill>
                  <a:srgbClr val="FFFFFF"/>
                </a:solidFill>
              </a:rPr>
              <a:t>Ambre</a:t>
            </a:r>
            <a:endParaRPr lang="en-US" sz="1400" dirty="0"/>
          </a:p>
        </p:txBody>
      </p:sp>
      <p:sp>
        <p:nvSpPr>
          <p:cNvPr id="8" name="Text 6"/>
          <p:cNvSpPr txBox="1"/>
          <p:nvPr/>
        </p:nvSpPr>
        <p:spPr>
          <a:xfrm>
            <a:off x="2084832" y="1737360"/>
            <a:ext cx="1463040" cy="365760"/>
          </a:xfrm>
          <a:prstGeom prst="rect">
            <a:avLst/>
          </a:prstGeom>
          <a:noFill/>
          <a:ln/>
        </p:spPr>
        <p:txBody>
          <a:bodyPr wrap="square" lIns="0" tIns="0" rIns="0" bIns="0" rtlCol="0" anchor="t"/>
          <a:lstStyle/>
          <a:p>
            <a:pPr algn="ctr" indent="0" marL="0">
              <a:buNone/>
            </a:pPr>
            <a:r>
              <a:rPr lang="en-US" sz="1100" dirty="0">
                <a:solidFill>
                  <a:srgbClr val="FFFFFF"/>
                </a:solidFill>
              </a:rPr>
              <a:t>#B4571B</a:t>
            </a:r>
            <a:endParaRPr lang="en-US" sz="1100" dirty="0"/>
          </a:p>
        </p:txBody>
      </p:sp>
      <p:sp>
        <p:nvSpPr>
          <p:cNvPr id="9" name="Couleur Fond clair"/>
          <p:cNvSpPr/>
          <p:nvPr/>
        </p:nvSpPr>
        <p:spPr>
          <a:xfrm>
            <a:off x="3712464" y="1188720"/>
            <a:ext cx="1463040" cy="1005840"/>
          </a:xfrm>
          <a:prstGeom prst="roundRect">
            <a:avLst>
              <a:gd name="adj" fmla="val 7273"/>
            </a:avLst>
          </a:prstGeom>
          <a:solidFill>
            <a:srgbClr val="F6F7F5"/>
          </a:solidFill>
          <a:ln w="9525">
            <a:solidFill>
              <a:srgbClr val="C9D3CD"/>
            </a:solidFill>
            <a:prstDash val="solid"/>
          </a:ln>
        </p:spPr>
      </p:sp>
      <p:sp>
        <p:nvSpPr>
          <p:cNvPr id="10" name="Text 8"/>
          <p:cNvSpPr txBox="1"/>
          <p:nvPr/>
        </p:nvSpPr>
        <p:spPr>
          <a:xfrm>
            <a:off x="3712464" y="1188720"/>
            <a:ext cx="1463040" cy="640080"/>
          </a:xfrm>
          <a:prstGeom prst="rect">
            <a:avLst/>
          </a:prstGeom>
          <a:noFill/>
          <a:ln/>
        </p:spPr>
        <p:txBody>
          <a:bodyPr wrap="square" lIns="0" tIns="0" rIns="0" bIns="0" rtlCol="0" anchor="ctr"/>
          <a:lstStyle/>
          <a:p>
            <a:pPr algn="ctr" indent="0" marL="0">
              <a:buNone/>
            </a:pPr>
            <a:r>
              <a:rPr lang="en-US" sz="1400" b="1" dirty="0">
                <a:solidFill>
                  <a:srgbClr val="1F2A24"/>
                </a:solidFill>
              </a:rPr>
              <a:t>Fond clair</a:t>
            </a:r>
            <a:endParaRPr lang="en-US" sz="1400" dirty="0"/>
          </a:p>
        </p:txBody>
      </p:sp>
      <p:sp>
        <p:nvSpPr>
          <p:cNvPr id="11" name="Text 9"/>
          <p:cNvSpPr txBox="1"/>
          <p:nvPr/>
        </p:nvSpPr>
        <p:spPr>
          <a:xfrm>
            <a:off x="3712464" y="1737360"/>
            <a:ext cx="1463040" cy="365760"/>
          </a:xfrm>
          <a:prstGeom prst="rect">
            <a:avLst/>
          </a:prstGeom>
          <a:noFill/>
          <a:ln/>
        </p:spPr>
        <p:txBody>
          <a:bodyPr wrap="square" lIns="0" tIns="0" rIns="0" bIns="0" rtlCol="0" anchor="t"/>
          <a:lstStyle/>
          <a:p>
            <a:pPr algn="ctr" indent="0" marL="0">
              <a:buNone/>
            </a:pPr>
            <a:r>
              <a:rPr lang="en-US" sz="1100" dirty="0">
                <a:solidFill>
                  <a:srgbClr val="1F2A24"/>
                </a:solidFill>
              </a:rPr>
              <a:t>#F6F7F5</a:t>
            </a:r>
            <a:endParaRPr lang="en-US" sz="1100" dirty="0"/>
          </a:p>
        </p:txBody>
      </p:sp>
      <p:sp>
        <p:nvSpPr>
          <p:cNvPr id="12" name="Couleur Encre"/>
          <p:cNvSpPr/>
          <p:nvPr/>
        </p:nvSpPr>
        <p:spPr>
          <a:xfrm>
            <a:off x="5340096" y="1188720"/>
            <a:ext cx="1463040" cy="1005840"/>
          </a:xfrm>
          <a:prstGeom prst="roundRect">
            <a:avLst>
              <a:gd name="adj" fmla="val 7273"/>
            </a:avLst>
          </a:prstGeom>
          <a:solidFill>
            <a:srgbClr val="1F2A24"/>
          </a:solidFill>
          <a:ln w="9525">
            <a:solidFill>
              <a:srgbClr val="C9D3CD"/>
            </a:solidFill>
            <a:prstDash val="solid"/>
          </a:ln>
        </p:spPr>
      </p:sp>
      <p:sp>
        <p:nvSpPr>
          <p:cNvPr id="13" name="Text 11"/>
          <p:cNvSpPr txBox="1"/>
          <p:nvPr/>
        </p:nvSpPr>
        <p:spPr>
          <a:xfrm>
            <a:off x="5340096" y="1188720"/>
            <a:ext cx="1463040" cy="640080"/>
          </a:xfrm>
          <a:prstGeom prst="rect">
            <a:avLst/>
          </a:prstGeom>
          <a:noFill/>
          <a:ln/>
        </p:spPr>
        <p:txBody>
          <a:bodyPr wrap="square" lIns="0" tIns="0" rIns="0" bIns="0" rtlCol="0" anchor="ctr"/>
          <a:lstStyle/>
          <a:p>
            <a:pPr algn="ctr" indent="0" marL="0">
              <a:buNone/>
            </a:pPr>
            <a:r>
              <a:rPr lang="en-US" sz="1400" b="1" dirty="0">
                <a:solidFill>
                  <a:srgbClr val="FFFFFF"/>
                </a:solidFill>
              </a:rPr>
              <a:t>Encre</a:t>
            </a:r>
            <a:endParaRPr lang="en-US" sz="1400" dirty="0"/>
          </a:p>
        </p:txBody>
      </p:sp>
      <p:sp>
        <p:nvSpPr>
          <p:cNvPr id="14" name="Text 12"/>
          <p:cNvSpPr txBox="1"/>
          <p:nvPr/>
        </p:nvSpPr>
        <p:spPr>
          <a:xfrm>
            <a:off x="5340096" y="1737360"/>
            <a:ext cx="1463040" cy="365760"/>
          </a:xfrm>
          <a:prstGeom prst="rect">
            <a:avLst/>
          </a:prstGeom>
          <a:noFill/>
          <a:ln/>
        </p:spPr>
        <p:txBody>
          <a:bodyPr wrap="square" lIns="0" tIns="0" rIns="0" bIns="0" rtlCol="0" anchor="t"/>
          <a:lstStyle/>
          <a:p>
            <a:pPr algn="ctr" indent="0" marL="0">
              <a:buNone/>
            </a:pPr>
            <a:r>
              <a:rPr lang="en-US" sz="1100" dirty="0">
                <a:solidFill>
                  <a:srgbClr val="FFFFFF"/>
                </a:solidFill>
              </a:rPr>
              <a:t>#1F2A24</a:t>
            </a:r>
            <a:endParaRPr lang="en-US" sz="1100" dirty="0"/>
          </a:p>
        </p:txBody>
      </p:sp>
      <p:sp>
        <p:nvSpPr>
          <p:cNvPr id="15" name="Couleur Sauge"/>
          <p:cNvSpPr/>
          <p:nvPr/>
        </p:nvSpPr>
        <p:spPr>
          <a:xfrm>
            <a:off x="6967728" y="1188720"/>
            <a:ext cx="1463040" cy="1005840"/>
          </a:xfrm>
          <a:prstGeom prst="roundRect">
            <a:avLst>
              <a:gd name="adj" fmla="val 7273"/>
            </a:avLst>
          </a:prstGeom>
          <a:solidFill>
            <a:srgbClr val="A9C2B4"/>
          </a:solidFill>
          <a:ln w="9525">
            <a:solidFill>
              <a:srgbClr val="C9D3CD"/>
            </a:solidFill>
            <a:prstDash val="solid"/>
          </a:ln>
        </p:spPr>
      </p:sp>
      <p:sp>
        <p:nvSpPr>
          <p:cNvPr id="16" name="Text 14"/>
          <p:cNvSpPr txBox="1"/>
          <p:nvPr/>
        </p:nvSpPr>
        <p:spPr>
          <a:xfrm>
            <a:off x="6967728" y="1188720"/>
            <a:ext cx="1463040" cy="640080"/>
          </a:xfrm>
          <a:prstGeom prst="rect">
            <a:avLst/>
          </a:prstGeom>
          <a:noFill/>
          <a:ln/>
        </p:spPr>
        <p:txBody>
          <a:bodyPr wrap="square" lIns="0" tIns="0" rIns="0" bIns="0" rtlCol="0" anchor="ctr"/>
          <a:lstStyle/>
          <a:p>
            <a:pPr algn="ctr" indent="0" marL="0">
              <a:buNone/>
            </a:pPr>
            <a:r>
              <a:rPr lang="en-US" sz="1400" b="1" dirty="0">
                <a:solidFill>
                  <a:srgbClr val="1F2A24"/>
                </a:solidFill>
              </a:rPr>
              <a:t>Sauge</a:t>
            </a:r>
            <a:endParaRPr lang="en-US" sz="1400" dirty="0"/>
          </a:p>
        </p:txBody>
      </p:sp>
      <p:sp>
        <p:nvSpPr>
          <p:cNvPr id="17" name="Text 15"/>
          <p:cNvSpPr txBox="1"/>
          <p:nvPr/>
        </p:nvSpPr>
        <p:spPr>
          <a:xfrm>
            <a:off x="6967728" y="1737360"/>
            <a:ext cx="1463040" cy="365760"/>
          </a:xfrm>
          <a:prstGeom prst="rect">
            <a:avLst/>
          </a:prstGeom>
          <a:noFill/>
          <a:ln/>
        </p:spPr>
        <p:txBody>
          <a:bodyPr wrap="square" lIns="0" tIns="0" rIns="0" bIns="0" rtlCol="0" anchor="t"/>
          <a:lstStyle/>
          <a:p>
            <a:pPr algn="ctr" indent="0" marL="0">
              <a:buNone/>
            </a:pPr>
            <a:r>
              <a:rPr lang="en-US" sz="1100" dirty="0">
                <a:solidFill>
                  <a:srgbClr val="1F2A24"/>
                </a:solidFill>
              </a:rPr>
              <a:t>#A9C2B4</a:t>
            </a:r>
            <a:endParaRPr lang="en-US" sz="1100" dirty="0"/>
          </a:p>
        </p:txBody>
      </p:sp>
      <p:sp>
        <p:nvSpPr>
          <p:cNvPr id="18" name="Texte"/>
          <p:cNvSpPr txBox="1"/>
          <p:nvPr/>
        </p:nvSpPr>
        <p:spPr>
          <a:xfrm>
            <a:off x="457200" y="2514600"/>
            <a:ext cx="8229600" cy="21031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Palette « Sapin et ambre » : vert sapin, fond clair neutre, accent orange brûlé</a:t>
            </a:r>
            <a:endParaRPr lang="en-US" sz="1500" dirty="0"/>
          </a:p>
          <a:p>
            <a:pPr marL="342900" indent="-342900">
              <a:spcAft>
                <a:spcPts val="600"/>
              </a:spcAft>
              <a:buSzPct val="100000"/>
              <a:buChar char="•"/>
            </a:pPr>
            <a:r>
              <a:rPr lang="en-US" sz="1500" dirty="0">
                <a:solidFill>
                  <a:schemeClr val="tx1"/>
                </a:solidFill>
              </a:rPr>
              <a:t>Contrastes vérifiés (au moins 4,5 : 1) et mode sombre</a:t>
            </a:r>
            <a:endParaRPr lang="en-US" sz="1500" dirty="0"/>
          </a:p>
          <a:p>
            <a:pPr marL="342900" indent="-342900">
              <a:spcAft>
                <a:spcPts val="600"/>
              </a:spcAft>
              <a:buSzPct val="100000"/>
              <a:buChar char="•"/>
            </a:pPr>
            <a:r>
              <a:rPr lang="en-US" sz="1500" dirty="0">
                <a:solidFill>
                  <a:schemeClr val="tx1"/>
                </a:solidFill>
              </a:rPr>
              <a:t>Liens soulignés, champs étiquetés, navigation au clavier</a:t>
            </a:r>
            <a:endParaRPr lang="en-US" sz="1500" dirty="0"/>
          </a:p>
          <a:p>
            <a:pPr marL="342900" indent="-342900">
              <a:spcAft>
                <a:spcPts val="600"/>
              </a:spcAft>
              <a:buSzPct val="100000"/>
              <a:buChar char="•"/>
            </a:pPr>
            <a:r>
              <a:rPr lang="en-US" sz="1500" dirty="0">
                <a:solidFill>
                  <a:schemeClr val="tx1"/>
                </a:solidFill>
              </a:rPr>
              <a:t>Une couleur par niveau, par groupe et par matière pour repérer d'un coup d'œil</a:t>
            </a:r>
            <a:endParaRPr lang="en-US" sz="1500" dirty="0"/>
          </a:p>
          <a:p>
            <a:pPr marL="342900" indent="-342900">
              <a:spcAft>
                <a:spcPts val="600"/>
              </a:spcAft>
              <a:buSzPct val="100000"/>
              <a:buChar char="•"/>
            </a:pPr>
            <a:r>
              <a:rPr lang="en-US" sz="1500" dirty="0">
                <a:solidFill>
                  <a:schemeClr val="tx1"/>
                </a:solidFill>
              </a:rPr>
              <a:t>Palette modifiable par client (nom, couleur, logo)</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Sur téléphone et adaptable à chaque client</a:t>
            </a:r>
            <a:endParaRPr lang="en-US" sz="2800" dirty="0"/>
          </a:p>
        </p:txBody>
      </p:sp>
      <p:sp>
        <p:nvSpPr>
          <p:cNvPr id="3" name="Texte"/>
          <p:cNvSpPr txBox="1"/>
          <p:nvPr/>
        </p:nvSpPr>
        <p:spPr>
          <a:xfrm>
            <a:off x="457200" y="1188720"/>
            <a:ext cx="3931920" cy="3383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Affichage adapté au téléphone, installable sur l'écran d'accueil</a:t>
            </a:r>
            <a:endParaRPr lang="en-US" sz="1400" dirty="0"/>
          </a:p>
          <a:p>
            <a:pPr marL="342900" indent="-342900">
              <a:spcAft>
                <a:spcPts val="600"/>
              </a:spcAft>
              <a:buSzPct val="100000"/>
              <a:buChar char="•"/>
            </a:pPr>
            <a:r>
              <a:rPr lang="en-US" sz="1400" dirty="0">
                <a:solidFill>
                  <a:schemeClr val="tx1"/>
                </a:solidFill>
              </a:rPr>
              <a:t>Enregistrement des réunions depuis le téléphone</a:t>
            </a:r>
            <a:endParaRPr lang="en-US" sz="1400" dirty="0"/>
          </a:p>
          <a:p>
            <a:pPr marL="342900" indent="-342900">
              <a:spcAft>
                <a:spcPts val="600"/>
              </a:spcAft>
              <a:buSzPct val="100000"/>
              <a:buChar char="•"/>
            </a:pPr>
            <a:r>
              <a:rPr lang="en-US" sz="1400" dirty="0">
                <a:solidFill>
                  <a:schemeClr val="tx1"/>
                </a:solidFill>
              </a:rPr>
              <a:t>Modules activables ou désactivables par client</a:t>
            </a:r>
            <a:endParaRPr lang="en-US" sz="1400" dirty="0"/>
          </a:p>
          <a:p>
            <a:pPr marL="342900" indent="-342900">
              <a:spcAft>
                <a:spcPts val="600"/>
              </a:spcAft>
              <a:buSzPct val="100000"/>
              <a:buChar char="•"/>
            </a:pPr>
            <a:r>
              <a:rPr lang="en-US" sz="1400" dirty="0">
                <a:solidFill>
                  <a:schemeClr val="tx1"/>
                </a:solidFill>
              </a:rPr>
              <a:t>Configuration par client : nom, couleur, logo, règles</a:t>
            </a:r>
            <a:endParaRPr lang="en-US" sz="1400" dirty="0"/>
          </a:p>
          <a:p>
            <a:pPr marL="342900" indent="-342900">
              <a:spcAft>
                <a:spcPts val="600"/>
              </a:spcAft>
              <a:buSzPct val="100000"/>
              <a:buChar char="•"/>
            </a:pPr>
            <a:r>
              <a:rPr lang="en-US" sz="1400" dirty="0">
                <a:solidFill>
                  <a:schemeClr val="tx1"/>
                </a:solidFill>
              </a:rPr>
              <a:t>Évolutions de base de données versionnées</a:t>
            </a:r>
            <a:endParaRPr lang="en-US" sz="1400" dirty="0"/>
          </a:p>
        </p:txBody>
      </p:sp>
      <p:sp>
        <p:nvSpPr>
          <p:cNvPr id="4" name="Téléphone mobile_accueil"/>
          <p:cNvSpPr/>
          <p:nvPr/>
        </p:nvSpPr>
        <p:spPr>
          <a:xfrm>
            <a:off x="4846320" y="1097280"/>
            <a:ext cx="1508760" cy="2504518"/>
          </a:xfrm>
          <a:prstGeom prst="roundRect">
            <a:avLst>
              <a:gd name="adj" fmla="val 6061"/>
            </a:avLst>
          </a:prstGeom>
          <a:solidFill>
            <a:srgbClr val="1F2A24"/>
          </a:solidFill>
          <a:ln/>
          <a:effectLst>
            <a:outerShdw sx="100000" sy="100000" kx="0" ky="0" algn="bl" rotWithShape="0" blurRad="101600" dist="25400" dir="5400000">
              <a:srgbClr val="000000">
                <a:alpha val="20000"/>
              </a:srgbClr>
            </a:outerShdw>
          </a:effectLst>
        </p:spPr>
      </p:sp>
      <p:pic>
        <p:nvPicPr>
          <p:cNvPr id="5" name="Image 0" descr="Capture sur téléphone">    </p:cNvPr>
          <p:cNvPicPr>
            <a:picLocks noChangeAspect="1"/>
          </p:cNvPicPr>
          <p:nvPr/>
        </p:nvPicPr>
        <p:blipFill>
          <a:blip r:embed="rId1"/>
          <a:stretch>
            <a:fillRect/>
          </a:stretch>
        </p:blipFill>
        <p:spPr>
          <a:xfrm>
            <a:off x="4892040" y="1143000"/>
            <a:ext cx="1417320" cy="2413078"/>
          </a:xfrm>
          <a:prstGeom prst="rect">
            <a:avLst/>
          </a:prstGeom>
        </p:spPr>
      </p:pic>
      <p:sp>
        <p:nvSpPr>
          <p:cNvPr id="6" name="Téléphone mobile_menu"/>
          <p:cNvSpPr/>
          <p:nvPr/>
        </p:nvSpPr>
        <p:spPr>
          <a:xfrm>
            <a:off x="6629400" y="1097280"/>
            <a:ext cx="1508760" cy="2504518"/>
          </a:xfrm>
          <a:prstGeom prst="roundRect">
            <a:avLst>
              <a:gd name="adj" fmla="val 6061"/>
            </a:avLst>
          </a:prstGeom>
          <a:solidFill>
            <a:srgbClr val="1F2A24"/>
          </a:solidFill>
          <a:ln/>
          <a:effectLst>
            <a:outerShdw sx="100000" sy="100000" kx="0" ky="0" algn="bl" rotWithShape="0" blurRad="101600" dist="25400" dir="5400000">
              <a:srgbClr val="000000">
                <a:alpha val="20000"/>
              </a:srgbClr>
            </a:outerShdw>
          </a:effectLst>
        </p:spPr>
      </p:sp>
      <p:pic>
        <p:nvPicPr>
          <p:cNvPr id="7" name="Image 1" descr="Capture sur téléphone">    </p:cNvPr>
          <p:cNvPicPr>
            <a:picLocks noChangeAspect="1"/>
          </p:cNvPicPr>
          <p:nvPr/>
        </p:nvPicPr>
        <p:blipFill>
          <a:blip r:embed="rId2"/>
          <a:stretch>
            <a:fillRect/>
          </a:stretch>
        </p:blipFill>
        <p:spPr>
          <a:xfrm>
            <a:off x="6675120" y="1143000"/>
            <a:ext cx="1417320" cy="2413078"/>
          </a:xfrm>
          <a:prstGeom prst="rect">
            <a:avLst/>
          </a:prstGeom>
        </p:spPr>
      </p:pic>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rPr>
              <a:t>Aujourd'hui et prochaines évolutions</a:t>
            </a:r>
            <a:endParaRPr lang="en-US" sz="2800" dirty="0"/>
          </a:p>
        </p:txBody>
      </p:sp>
      <p:sp>
        <p:nvSpPr>
          <p:cNvPr id="3" name="Carte disponible"/>
          <p:cNvSpPr/>
          <p:nvPr/>
        </p:nvSpPr>
        <p:spPr>
          <a:xfrm>
            <a:off x="457200" y="1143000"/>
            <a:ext cx="4023360" cy="3291840"/>
          </a:xfrm>
          <a:prstGeom prst="roundRect">
            <a:avLst>
              <a:gd name="adj" fmla="val 2222"/>
            </a:avLst>
          </a:prstGeom>
          <a:solidFill>
            <a:schemeClr val="bg2"/>
          </a:solidFill>
          <a:ln w="9525">
            <a:solidFill>
              <a:srgbClr val="DDE5E0"/>
            </a:solidFill>
            <a:prstDash val="solid"/>
          </a:ln>
        </p:spPr>
      </p:sp>
      <p:sp>
        <p:nvSpPr>
          <p:cNvPr id="4" name="Text 2"/>
          <p:cNvSpPr txBox="1"/>
          <p:nvPr/>
        </p:nvSpPr>
        <p:spPr>
          <a:xfrm>
            <a:off x="640080" y="1280160"/>
            <a:ext cx="3657600" cy="365760"/>
          </a:xfrm>
          <a:prstGeom prst="rect">
            <a:avLst/>
          </a:prstGeom>
          <a:noFill/>
          <a:ln/>
        </p:spPr>
        <p:txBody>
          <a:bodyPr wrap="square" lIns="0" tIns="0" rIns="0" bIns="0" rtlCol="0" anchor="ctr"/>
          <a:lstStyle/>
          <a:p>
            <a:pPr indent="0" marL="0">
              <a:buNone/>
            </a:pPr>
            <a:r>
              <a:rPr lang="en-US" sz="1600" b="1" dirty="0">
                <a:solidFill>
                  <a:schemeClr val="tx1"/>
                </a:solidFill>
              </a:rPr>
              <a:t>Disponible aujourd'hui</a:t>
            </a:r>
            <a:endParaRPr lang="en-US" sz="1600" dirty="0"/>
          </a:p>
        </p:txBody>
      </p:sp>
      <p:sp>
        <p:nvSpPr>
          <p:cNvPr id="5" name="Text 3"/>
          <p:cNvSpPr txBox="1"/>
          <p:nvPr/>
        </p:nvSpPr>
        <p:spPr>
          <a:xfrm>
            <a:off x="640080" y="1737360"/>
            <a:ext cx="3657600" cy="26517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Absences, remplacements, assiduité, notes et bulletins</a:t>
            </a:r>
            <a:endParaRPr lang="en-US" sz="1300" dirty="0"/>
          </a:p>
          <a:p>
            <a:pPr marL="342900" indent="-342900">
              <a:spcAft>
                <a:spcPts val="600"/>
              </a:spcAft>
              <a:buSzPct val="100000"/>
              <a:buChar char="•"/>
            </a:pPr>
            <a:r>
              <a:rPr lang="en-US" sz="1300" dirty="0">
                <a:solidFill>
                  <a:schemeClr val="tx1"/>
                </a:solidFill>
              </a:rPr>
              <a:t>Emplois du temps et génération automatique</a:t>
            </a:r>
            <a:endParaRPr lang="en-US" sz="1300" dirty="0"/>
          </a:p>
          <a:p>
            <a:pPr marL="342900" indent="-342900">
              <a:spcAft>
                <a:spcPts val="600"/>
              </a:spcAft>
              <a:buSzPct val="100000"/>
              <a:buChar char="•"/>
            </a:pPr>
            <a:r>
              <a:rPr lang="en-US" sz="1300" dirty="0">
                <a:solidFill>
                  <a:schemeClr val="tx1"/>
                </a:solidFill>
              </a:rPr>
              <a:t>Personnel de vie scolaire et comptage des heures</a:t>
            </a:r>
            <a:endParaRPr lang="en-US" sz="1300" dirty="0"/>
          </a:p>
          <a:p>
            <a:pPr marL="342900" indent="-342900">
              <a:spcAft>
                <a:spcPts val="600"/>
              </a:spcAft>
              <a:buSzPct val="100000"/>
              <a:buChar char="•"/>
            </a:pPr>
            <a:r>
              <a:rPr lang="en-US" sz="1300" dirty="0">
                <a:solidFill>
                  <a:schemeClr val="tx1"/>
                </a:solidFill>
              </a:rPr>
              <a:t>Élèves, groupes, trombinoscope, infirmerie, documents</a:t>
            </a:r>
            <a:endParaRPr lang="en-US" sz="1300" dirty="0"/>
          </a:p>
          <a:p>
            <a:pPr marL="342900" indent="-342900">
              <a:spcAft>
                <a:spcPts val="600"/>
              </a:spcAft>
              <a:buSzPct val="100000"/>
              <a:buChar char="•"/>
            </a:pPr>
            <a:r>
              <a:rPr lang="en-US" sz="1300" dirty="0">
                <a:solidFill>
                  <a:schemeClr val="tx1"/>
                </a:solidFill>
              </a:rPr>
              <a:t>Réunions : convocations, enregistrement, compte rendu</a:t>
            </a:r>
            <a:endParaRPr lang="en-US" sz="1300" dirty="0"/>
          </a:p>
          <a:p>
            <a:pPr marL="342900" indent="-342900">
              <a:spcAft>
                <a:spcPts val="600"/>
              </a:spcAft>
              <a:buSzPct val="100000"/>
              <a:buChar char="•"/>
            </a:pPr>
            <a:r>
              <a:rPr lang="en-US" sz="1300" dirty="0">
                <a:solidFill>
                  <a:schemeClr val="tx1"/>
                </a:solidFill>
              </a:rPr>
              <a:t>Établissements, rôles, sécurité, RGPD</a:t>
            </a:r>
            <a:endParaRPr lang="en-US" sz="1300" dirty="0"/>
          </a:p>
        </p:txBody>
      </p:sp>
      <p:sp>
        <p:nvSpPr>
          <p:cNvPr id="6" name="Carte à venir"/>
          <p:cNvSpPr/>
          <p:nvPr/>
        </p:nvSpPr>
        <p:spPr>
          <a:xfrm>
            <a:off x="4663440" y="1143000"/>
            <a:ext cx="4023360" cy="3291840"/>
          </a:xfrm>
          <a:prstGeom prst="roundRect">
            <a:avLst>
              <a:gd name="adj" fmla="val 2222"/>
            </a:avLst>
          </a:prstGeom>
          <a:solidFill>
            <a:srgbClr val="FFFFFF"/>
          </a:solidFill>
          <a:ln w="15875">
            <a:solidFill>
              <a:schemeClr val="accent1"/>
            </a:solidFill>
            <a:prstDash val="solid"/>
          </a:ln>
        </p:spPr>
      </p:sp>
      <p:sp>
        <p:nvSpPr>
          <p:cNvPr id="7" name="Text 5"/>
          <p:cNvSpPr txBox="1"/>
          <p:nvPr/>
        </p:nvSpPr>
        <p:spPr>
          <a:xfrm>
            <a:off x="4846320" y="1280160"/>
            <a:ext cx="3657600" cy="365760"/>
          </a:xfrm>
          <a:prstGeom prst="rect">
            <a:avLst/>
          </a:prstGeom>
          <a:noFill/>
          <a:ln/>
        </p:spPr>
        <p:txBody>
          <a:bodyPr wrap="square" lIns="0" tIns="0" rIns="0" bIns="0" rtlCol="0" anchor="ctr"/>
          <a:lstStyle/>
          <a:p>
            <a:pPr indent="0" marL="0">
              <a:buNone/>
            </a:pPr>
            <a:r>
              <a:rPr lang="en-US" sz="1600" b="1" dirty="0">
                <a:solidFill>
                  <a:schemeClr val="tx1"/>
                </a:solidFill>
              </a:rPr>
              <a:t>À définir selon vos demandes</a:t>
            </a:r>
            <a:endParaRPr lang="en-US" sz="1600" dirty="0"/>
          </a:p>
        </p:txBody>
      </p:sp>
      <p:sp>
        <p:nvSpPr>
          <p:cNvPr id="8" name="Text 6"/>
          <p:cNvSpPr txBox="1"/>
          <p:nvPr/>
        </p:nvSpPr>
        <p:spPr>
          <a:xfrm>
            <a:off x="4846320" y="1737360"/>
            <a:ext cx="3657600" cy="26517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Envoi d'e-mails et notifications (aujourd'hui : messages internes)</a:t>
            </a:r>
            <a:endParaRPr lang="en-US" sz="1300" dirty="0"/>
          </a:p>
          <a:p>
            <a:pPr marL="342900" indent="-342900">
              <a:spcAft>
                <a:spcPts val="600"/>
              </a:spcAft>
              <a:buSzPct val="100000"/>
              <a:buChar char="•"/>
            </a:pPr>
            <a:r>
              <a:rPr lang="en-US" sz="1300" dirty="0">
                <a:solidFill>
                  <a:schemeClr val="tx1"/>
                </a:solidFill>
              </a:rPr>
              <a:t>Reconnaissance des voix pour attribuer les interventions</a:t>
            </a:r>
            <a:endParaRPr lang="en-US" sz="1300" dirty="0"/>
          </a:p>
          <a:p>
            <a:pPr marL="342900" indent="-342900">
              <a:spcAft>
                <a:spcPts val="600"/>
              </a:spcAft>
              <a:buSzPct val="100000"/>
              <a:buChar char="•"/>
            </a:pPr>
            <a:r>
              <a:rPr lang="en-US" sz="1300" dirty="0">
                <a:solidFill>
                  <a:schemeClr val="tx1"/>
                </a:solidFill>
              </a:rPr>
              <a:t>Semaines A/B et samedi dans les emplois du temps</a:t>
            </a:r>
            <a:endParaRPr lang="en-US" sz="1300" dirty="0"/>
          </a:p>
          <a:p>
            <a:pPr marL="342900" indent="-342900">
              <a:spcAft>
                <a:spcPts val="600"/>
              </a:spcAft>
              <a:buSzPct val="100000"/>
              <a:buChar char="•"/>
            </a:pPr>
            <a:r>
              <a:rPr lang="en-US" sz="1300" dirty="0">
                <a:solidFill>
                  <a:schemeClr val="tx1"/>
                </a:solidFill>
              </a:rPr>
              <a:t>API pour des intégrations tierces</a:t>
            </a:r>
            <a:endParaRPr lang="en-US" sz="1300" dirty="0"/>
          </a:p>
          <a:p>
            <a:pPr marL="342900" indent="-342900">
              <a:spcAft>
                <a:spcPts val="600"/>
              </a:spcAft>
              <a:buSzPct val="100000"/>
              <a:buChar char="•"/>
            </a:pPr>
            <a:r>
              <a:rPr lang="en-US" sz="1300" dirty="0">
                <a:solidFill>
                  <a:schemeClr val="tx1"/>
                </a:solidFill>
              </a:rPr>
              <a:t>Exports PDF et Excel générés côté serveur</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731520" y="822960"/>
            <a:ext cx="7680960" cy="914400"/>
          </a:xfrm>
          <a:prstGeom prst="rect">
            <a:avLst/>
          </a:prstGeom>
          <a:noFill/>
          <a:ln/>
        </p:spPr>
        <p:txBody>
          <a:bodyPr wrap="square" lIns="0" tIns="0" rIns="0" bIns="0" rtlCol="0" anchor="t"/>
          <a:lstStyle/>
          <a:p>
            <a:pPr algn="l" indent="0" marL="0">
              <a:buNone/>
            </a:pPr>
            <a:r>
              <a:rPr lang="en-US" sz="3800" b="1" dirty="0">
                <a:solidFill>
                  <a:schemeClr val="bg2"/>
                </a:solidFill>
              </a:rPr>
              <a:t>Essayez la démonstration</a:t>
            </a:r>
            <a:endParaRPr lang="en-US" sz="3800" dirty="0"/>
          </a:p>
        </p:txBody>
      </p:sp>
      <p:sp>
        <p:nvSpPr>
          <p:cNvPr id="3" name="Adresse de la démo"/>
          <p:cNvSpPr txBox="1"/>
          <p:nvPr/>
        </p:nvSpPr>
        <p:spPr>
          <a:xfrm>
            <a:off x="731520" y="1920240"/>
            <a:ext cx="7680960" cy="548640"/>
          </a:xfrm>
          <a:prstGeom prst="rect">
            <a:avLst/>
          </a:prstGeom>
          <a:noFill/>
          <a:ln/>
        </p:spPr>
        <p:txBody>
          <a:bodyPr wrap="square" lIns="0" tIns="0" rIns="0" bIns="0" rtlCol="0" anchor="ctr"/>
          <a:lstStyle/>
          <a:p>
            <a:pPr indent="0" marL="0">
              <a:buNone/>
            </a:pPr>
            <a:r>
              <a:rPr lang="en-US" sz="2800" b="1" dirty="0">
                <a:solidFill>
                  <a:schemeClr val="accent4"/>
                </a:solidFill>
              </a:rPr>
              <a:t>viescolaire-pro.onrender.com</a:t>
            </a:r>
            <a:endParaRPr lang="en-US" sz="2800" dirty="0"/>
          </a:p>
        </p:txBody>
      </p:sp>
      <p:sp>
        <p:nvSpPr>
          <p:cNvPr id="4" name="Comptes de démonstration"/>
          <p:cNvSpPr txBox="1"/>
          <p:nvPr/>
        </p:nvSpPr>
        <p:spPr>
          <a:xfrm>
            <a:off x="731520" y="2743200"/>
            <a:ext cx="7680960" cy="155448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bg2"/>
                </a:solidFill>
              </a:rPr>
              <a:t>CPE : cpe@demo.fr — direction : direction@demo.fr</a:t>
            </a:r>
            <a:endParaRPr lang="en-US" sz="1600" dirty="0"/>
          </a:p>
          <a:p>
            <a:pPr marL="342900" indent="-342900">
              <a:spcAft>
                <a:spcPts val="600"/>
              </a:spcAft>
              <a:buSzPct val="100000"/>
              <a:buChar char="•"/>
            </a:pPr>
            <a:r>
              <a:rPr lang="en-US" sz="1600" dirty="0">
                <a:solidFill>
                  <a:schemeClr val="bg2"/>
                </a:solidFill>
              </a:rPr>
              <a:t>Administrateur (établissements) : admin@demo.fr</a:t>
            </a:r>
            <a:endParaRPr lang="en-US" sz="1600" dirty="0"/>
          </a:p>
          <a:p>
            <a:pPr marL="342900" indent="-342900">
              <a:spcAft>
                <a:spcPts val="600"/>
              </a:spcAft>
              <a:buSzPct val="100000"/>
              <a:buChar char="•"/>
            </a:pPr>
            <a:r>
              <a:rPr lang="en-US" sz="1600" dirty="0">
                <a:solidFill>
                  <a:schemeClr val="bg2"/>
                </a:solidFill>
              </a:rPr>
              <a:t>Enseignant : prof1@demo.fr — infirmière : infirmerie@demo.fr</a:t>
            </a:r>
            <a:endParaRPr lang="en-US" sz="1600" dirty="0"/>
          </a:p>
          <a:p>
            <a:pPr marL="342900" indent="-342900">
              <a:spcAft>
                <a:spcPts val="600"/>
              </a:spcAft>
              <a:buSzPct val="100000"/>
              <a:buChar char="•"/>
            </a:pPr>
            <a:r>
              <a:rPr lang="en-US" sz="1600" dirty="0">
                <a:solidFill>
                  <a:schemeClr val="bg2"/>
                </a:solidFill>
              </a:rPr>
              <a:t>Mot de passe de démonstration : demo1234</a:t>
            </a:r>
            <a:endParaRPr lang="en-US" sz="1600" dirty="0"/>
          </a:p>
        </p:txBody>
      </p:sp>
    </p:spTree>
  </p:cSld>
  <p:clrMapOvr>
    <a:masterClrMapping/>
  </p:clrMapOvr>
</p:sld>
</file>

<file path=ppt/theme/theme1.xml><?xml version="1.0" encoding="utf-8"?>
<a:theme xmlns:a="http://schemas.openxmlformats.org/drawingml/2006/main" name="VieScolairePro">
  <a:themeElements>
    <a:clrScheme name="VieScolairePro">
      <a:dk1>
        <a:srgbClr val="1F2A24"/>
      </a:dk1>
      <a:lt1>
        <a:srgbClr val="FFFFFF"/>
      </a:lt1>
      <a:dk2>
        <a:srgbClr val="3B6256"/>
      </a:dk2>
      <a:lt2>
        <a:srgbClr val="F6F7F5"/>
      </a:lt2>
      <a:accent1>
        <a:srgbClr val="B4571B"/>
      </a:accent1>
      <a:accent2>
        <a:srgbClr val="5E7F72"/>
      </a:accent2>
      <a:accent3>
        <a:srgbClr val="A9C2B4"/>
      </a:accent3>
      <a:accent4>
        <a:srgbClr val="F2B36B"/>
      </a:accent4>
      <a:accent5>
        <a:srgbClr val="C5456B"/>
      </a:accent5>
      <a:accent6>
        <a:srgbClr val="1F86A8"/>
      </a:accent6>
      <a:hlink>
        <a:srgbClr val="B4571B"/>
      </a:hlink>
      <a:folHlink>
        <a:srgbClr val="5E7F72"/>
      </a:folHlink>
    </a:clrScheme>
    <a:fontScheme name="VieScolairePro">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VieScolairePro — présentation du produit</dc:title>
  <dc:subject>PptxGenJS Presentation</dc:subject>
  <dc:creator>VieScolairePro</dc:creator>
  <cp:lastModifiedBy>VieScolairePro</cp:lastModifiedBy>
  <cp:revision>1</cp:revision>
  <dcterms:created xsi:type="dcterms:W3CDTF">2026-10-31T14:32:43Z</dcterms:created>
  <dcterms:modified xsi:type="dcterms:W3CDTF">2026-10-31T14:32:43Z</dcterms:modified>
</cp:coreProperties>
</file>